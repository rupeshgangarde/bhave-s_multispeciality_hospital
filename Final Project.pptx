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8" d="100"/>
          <a:sy n="98" d="100"/>
        </p:scale>
        <p:origin x="110"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6/29/2022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6/29/2022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6/29/2022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transition spd="med">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6/29/2022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6/29/2022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6/29/2022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transition spd="med">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6/29/2022</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ransition spd="med">
    <p:pull/>
  </p:transition>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localhost:8081/PROJECT/index.jsp"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bg2">
                <a:shade val="18000"/>
                <a:satMod val="160000"/>
                <a:lumMod val="28000"/>
              </a:schemeClr>
              <a:schemeClr val="bg2">
                <a:tint val="95000"/>
                <a:satMod val="160000"/>
                <a:lumMod val="116000"/>
              </a:schemeClr>
            </a:duotone>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688058"/>
            <a:ext cx="9001462" cy="2387600"/>
          </a:xfrm>
        </p:spPr>
        <p:txBody>
          <a:bodyPr>
            <a:normAutofit/>
          </a:bodyPr>
          <a:lstStyle/>
          <a:p>
            <a:r>
              <a:rPr lang="en-US" sz="4400" dirty="0">
                <a:solidFill>
                  <a:srgbClr val="FFFF00"/>
                </a:solidFill>
              </a:rPr>
              <a:t>BHAVE’S MULTISPECIALITY HOSPITAL WEBSITE</a:t>
            </a:r>
          </a:p>
        </p:txBody>
      </p:sp>
      <p:sp>
        <p:nvSpPr>
          <p:cNvPr id="3" name="Subtitle 2"/>
          <p:cNvSpPr>
            <a:spLocks noGrp="1"/>
          </p:cNvSpPr>
          <p:nvPr>
            <p:ph type="subTitle" idx="1"/>
          </p:nvPr>
        </p:nvSpPr>
        <p:spPr>
          <a:xfrm>
            <a:off x="1595269" y="3577701"/>
            <a:ext cx="9404164" cy="2494625"/>
          </a:xfrm>
        </p:spPr>
        <p:txBody>
          <a:bodyPr>
            <a:normAutofit fontScale="85000" lnSpcReduction="10000"/>
          </a:bodyPr>
          <a:lstStyle/>
          <a:p>
            <a:r>
              <a:rPr lang="en-US" sz="2600" dirty="0">
                <a:solidFill>
                  <a:srgbClr val="FFC000"/>
                </a:solidFill>
              </a:rPr>
              <a:t>A Hospital Full-fledged Website</a:t>
            </a:r>
          </a:p>
          <a:p>
            <a:endParaRPr lang="en-US" dirty="0">
              <a:solidFill>
                <a:srgbClr val="FFC000"/>
              </a:solidFill>
            </a:endParaRPr>
          </a:p>
          <a:p>
            <a:r>
              <a:rPr lang="en-US" sz="1900" dirty="0"/>
              <a:t>By-</a:t>
            </a:r>
          </a:p>
          <a:p>
            <a:r>
              <a:rPr lang="en-US" sz="1900" dirty="0"/>
              <a:t>1926016- Rupesh Gangarde</a:t>
            </a:r>
          </a:p>
          <a:p>
            <a:r>
              <a:rPr lang="en-US" sz="1900" dirty="0"/>
              <a:t>1926041- Shreya Mokase</a:t>
            </a:r>
          </a:p>
          <a:p>
            <a:r>
              <a:rPr lang="en-US" sz="1900" dirty="0"/>
              <a:t>1926060- Viraj Sonawane</a:t>
            </a:r>
          </a:p>
        </p:txBody>
      </p:sp>
    </p:spTree>
    <p:extLst>
      <p:ext uri="{BB962C8B-B14F-4D97-AF65-F5344CB8AC3E}">
        <p14:creationId xmlns:p14="http://schemas.microsoft.com/office/powerpoint/2010/main" val="2504217091"/>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Problem Statement </a:t>
            </a:r>
          </a:p>
        </p:txBody>
      </p:sp>
      <p:sp>
        <p:nvSpPr>
          <p:cNvPr id="3" name="Content Placeholder 2"/>
          <p:cNvSpPr>
            <a:spLocks noGrp="1"/>
          </p:cNvSpPr>
          <p:nvPr>
            <p:ph idx="1"/>
          </p:nvPr>
        </p:nvSpPr>
        <p:spPr/>
        <p:txBody>
          <a:bodyPr/>
          <a:lstStyle/>
          <a:p>
            <a:r>
              <a:rPr lang="en-US" dirty="0"/>
              <a:t>The purpose of the project entitled as “BHAVE’S MULTISPECIALITY HOSPITAL WEBSITE” is to digitalize Hospital to develop system which is user friendly simple, fast, and cost – effective. It deals with services, specialties, doctor’s information, etc. The main function of the project is to make the services offered by the hospital to people via Internet. It can be accessible by people around the globe and people can benefit from it. It’s just not the website but gateway for the people to take the appointment to the hospital according to the date, doctor and specialty they are looking for.</a:t>
            </a:r>
          </a:p>
        </p:txBody>
      </p:sp>
    </p:spTree>
    <p:extLst>
      <p:ext uri="{BB962C8B-B14F-4D97-AF65-F5344CB8AC3E}">
        <p14:creationId xmlns:p14="http://schemas.microsoft.com/office/powerpoint/2010/main" val="2449996741"/>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Technologies Used</a:t>
            </a:r>
          </a:p>
        </p:txBody>
      </p:sp>
      <p:sp>
        <p:nvSpPr>
          <p:cNvPr id="3" name="Content Placeholder 2"/>
          <p:cNvSpPr>
            <a:spLocks noGrp="1"/>
          </p:cNvSpPr>
          <p:nvPr>
            <p:ph idx="1"/>
          </p:nvPr>
        </p:nvSpPr>
        <p:spPr>
          <a:xfrm>
            <a:off x="913795" y="2096064"/>
            <a:ext cx="2370318" cy="3544882"/>
          </a:xfrm>
        </p:spPr>
        <p:txBody>
          <a:bodyPr/>
          <a:lstStyle/>
          <a:p>
            <a:pPr>
              <a:buFont typeface="Wingdings" panose="05000000000000000000" pitchFamily="2" charset="2"/>
              <a:buChar char="Ø"/>
            </a:pPr>
            <a:r>
              <a:rPr lang="en-US" b="1" dirty="0">
                <a:solidFill>
                  <a:srgbClr val="FFC000"/>
                </a:solidFill>
              </a:rPr>
              <a:t>Front end :-</a:t>
            </a:r>
          </a:p>
          <a:p>
            <a:pPr>
              <a:buFont typeface="Wingdings" panose="05000000000000000000" pitchFamily="2" charset="2"/>
              <a:buChar char="ü"/>
            </a:pPr>
            <a:r>
              <a:rPr lang="en-US" dirty="0"/>
              <a:t>  HTML 5</a:t>
            </a:r>
          </a:p>
          <a:p>
            <a:pPr>
              <a:buFont typeface="Wingdings" panose="05000000000000000000" pitchFamily="2" charset="2"/>
              <a:buChar char="ü"/>
            </a:pPr>
            <a:r>
              <a:rPr lang="en-US" dirty="0"/>
              <a:t>  CSS 3</a:t>
            </a:r>
          </a:p>
          <a:p>
            <a:pPr>
              <a:buFont typeface="Wingdings" panose="05000000000000000000" pitchFamily="2" charset="2"/>
              <a:buChar char="ü"/>
            </a:pPr>
            <a:r>
              <a:rPr lang="en-US" dirty="0"/>
              <a:t>   Boot Strap 4</a:t>
            </a:r>
          </a:p>
          <a:p>
            <a:pPr>
              <a:buFont typeface="Wingdings" panose="05000000000000000000" pitchFamily="2" charset="2"/>
              <a:buChar char="ü"/>
            </a:pPr>
            <a:r>
              <a:rPr lang="en-US" dirty="0"/>
              <a:t>   Java Script</a:t>
            </a:r>
          </a:p>
          <a:p>
            <a:pPr>
              <a:buFont typeface="Wingdings" panose="05000000000000000000" pitchFamily="2" charset="2"/>
              <a:buChar char="ü"/>
            </a:pPr>
            <a:r>
              <a:rPr lang="en-US" dirty="0"/>
              <a:t>   jQuery</a:t>
            </a:r>
          </a:p>
        </p:txBody>
      </p:sp>
      <p:sp>
        <p:nvSpPr>
          <p:cNvPr id="4" name="TextBox 3"/>
          <p:cNvSpPr txBox="1"/>
          <p:nvPr/>
        </p:nvSpPr>
        <p:spPr>
          <a:xfrm>
            <a:off x="3830433" y="2096064"/>
            <a:ext cx="2524259" cy="1456809"/>
          </a:xfrm>
          <a:prstGeom prst="rect">
            <a:avLst/>
          </a:prstGeom>
          <a:noFill/>
        </p:spPr>
        <p:txBody>
          <a:bodyPr wrap="square" rtlCol="0">
            <a:spAutoFit/>
          </a:bodyPr>
          <a:lstStyle/>
          <a:p>
            <a:pPr marL="228600" lvl="0" indent="-228600" defTabSz="914400">
              <a:lnSpc>
                <a:spcPct val="120000"/>
              </a:lnSpc>
              <a:spcBef>
                <a:spcPts val="1000"/>
              </a:spcBef>
              <a:buFont typeface="Wingdings" panose="05000000000000000000" pitchFamily="2" charset="2"/>
              <a:buChar char="Ø"/>
            </a:pPr>
            <a:r>
              <a:rPr lang="en-US" sz="2000" b="1" dirty="0">
                <a:solidFill>
                  <a:srgbClr val="FFC000"/>
                </a:solidFill>
                <a:effectLst>
                  <a:outerShdw blurRad="50800" dist="38100" dir="2700000" algn="tl" rotWithShape="0">
                    <a:srgbClr val="000000">
                      <a:alpha val="48000"/>
                    </a:srgbClr>
                  </a:outerShdw>
                </a:effectLst>
              </a:rPr>
              <a:t>Back end :-</a:t>
            </a:r>
          </a:p>
          <a:p>
            <a:pPr marL="228600" lvl="0" indent="-228600" defTabSz="914400">
              <a:lnSpc>
                <a:spcPct val="120000"/>
              </a:lnSpc>
              <a:spcBef>
                <a:spcPts val="1000"/>
              </a:spcBef>
              <a:buFont typeface="Wingdings" panose="05000000000000000000" pitchFamily="2" charset="2"/>
              <a:buChar char="ü"/>
            </a:pPr>
            <a:r>
              <a:rPr lang="en-US" sz="2000" dirty="0">
                <a:solidFill>
                  <a:prstClr val="white"/>
                </a:solidFill>
                <a:effectLst>
                  <a:outerShdw blurRad="50800" dist="38100" dir="2700000" algn="tl" rotWithShape="0">
                    <a:srgbClr val="000000">
                      <a:alpha val="48000"/>
                    </a:srgbClr>
                  </a:outerShdw>
                </a:effectLst>
              </a:rPr>
              <a:t>  JSP</a:t>
            </a:r>
          </a:p>
          <a:p>
            <a:pPr marL="228600" lvl="0" indent="-228600" defTabSz="914400">
              <a:lnSpc>
                <a:spcPct val="120000"/>
              </a:lnSpc>
              <a:spcBef>
                <a:spcPts val="1000"/>
              </a:spcBef>
              <a:buFont typeface="Wingdings" panose="05000000000000000000" pitchFamily="2" charset="2"/>
              <a:buChar char="ü"/>
            </a:pPr>
            <a:r>
              <a:rPr lang="en-US" sz="2000" dirty="0">
                <a:solidFill>
                  <a:prstClr val="white"/>
                </a:solidFill>
                <a:effectLst>
                  <a:outerShdw blurRad="50800" dist="38100" dir="2700000" algn="tl" rotWithShape="0">
                    <a:srgbClr val="000000">
                      <a:alpha val="48000"/>
                    </a:srgbClr>
                  </a:outerShdw>
                </a:effectLst>
              </a:rPr>
              <a:t>  Servlet</a:t>
            </a:r>
          </a:p>
        </p:txBody>
      </p:sp>
      <p:sp>
        <p:nvSpPr>
          <p:cNvPr id="7" name="Rectangle 6"/>
          <p:cNvSpPr/>
          <p:nvPr/>
        </p:nvSpPr>
        <p:spPr>
          <a:xfrm>
            <a:off x="6354692" y="2096064"/>
            <a:ext cx="2335369" cy="959237"/>
          </a:xfrm>
          <a:prstGeom prst="rect">
            <a:avLst/>
          </a:prstGeom>
        </p:spPr>
        <p:txBody>
          <a:bodyPr wrap="square">
            <a:spAutoFit/>
          </a:bodyPr>
          <a:lstStyle/>
          <a:p>
            <a:pPr marL="228600" lvl="0" indent="-228600" defTabSz="914400">
              <a:lnSpc>
                <a:spcPct val="120000"/>
              </a:lnSpc>
              <a:spcBef>
                <a:spcPts val="1000"/>
              </a:spcBef>
              <a:buFont typeface="Wingdings" panose="05000000000000000000" pitchFamily="2" charset="2"/>
              <a:buChar char="Ø"/>
            </a:pPr>
            <a:r>
              <a:rPr lang="en-US" sz="2000" b="1" dirty="0">
                <a:solidFill>
                  <a:srgbClr val="FFC000"/>
                </a:solidFill>
                <a:effectLst>
                  <a:outerShdw blurRad="50800" dist="38100" dir="2700000" algn="tl" rotWithShape="0">
                    <a:srgbClr val="000000">
                      <a:alpha val="48000"/>
                    </a:srgbClr>
                  </a:outerShdw>
                </a:effectLst>
              </a:rPr>
              <a:t>Database :-</a:t>
            </a:r>
          </a:p>
          <a:p>
            <a:pPr marL="228600" lvl="0" indent="-228600" defTabSz="914400">
              <a:lnSpc>
                <a:spcPct val="120000"/>
              </a:lnSpc>
              <a:spcBef>
                <a:spcPts val="1000"/>
              </a:spcBef>
              <a:buFont typeface="Wingdings" panose="05000000000000000000" pitchFamily="2" charset="2"/>
              <a:buChar char="ü"/>
            </a:pPr>
            <a:r>
              <a:rPr lang="en-US" sz="2000" dirty="0">
                <a:solidFill>
                  <a:prstClr val="white"/>
                </a:solidFill>
                <a:effectLst>
                  <a:outerShdw blurRad="50800" dist="38100" dir="2700000" algn="tl" rotWithShape="0">
                    <a:srgbClr val="000000">
                      <a:alpha val="48000"/>
                    </a:srgbClr>
                  </a:outerShdw>
                </a:effectLst>
              </a:rPr>
              <a:t>  Oracle</a:t>
            </a:r>
          </a:p>
        </p:txBody>
      </p:sp>
      <p:sp>
        <p:nvSpPr>
          <p:cNvPr id="9" name="Rectangle 8"/>
          <p:cNvSpPr/>
          <p:nvPr/>
        </p:nvSpPr>
        <p:spPr>
          <a:xfrm>
            <a:off x="8878951" y="2078110"/>
            <a:ext cx="2477037" cy="4314001"/>
          </a:xfrm>
          <a:prstGeom prst="rect">
            <a:avLst/>
          </a:prstGeom>
        </p:spPr>
        <p:txBody>
          <a:bodyPr wrap="square">
            <a:spAutoFit/>
          </a:bodyPr>
          <a:lstStyle/>
          <a:p>
            <a:pPr marL="228600" lvl="0" indent="-228600" defTabSz="914400">
              <a:lnSpc>
                <a:spcPct val="120000"/>
              </a:lnSpc>
              <a:spcBef>
                <a:spcPts val="1000"/>
              </a:spcBef>
              <a:buFont typeface="Wingdings" panose="05000000000000000000" pitchFamily="2" charset="2"/>
              <a:buChar char="Ø"/>
            </a:pPr>
            <a:r>
              <a:rPr lang="en-US" sz="2000" b="1" dirty="0">
                <a:solidFill>
                  <a:srgbClr val="FFC000"/>
                </a:solidFill>
                <a:effectLst>
                  <a:outerShdw blurRad="50800" dist="38100" dir="2700000" algn="tl" rotWithShape="0">
                    <a:srgbClr val="000000">
                      <a:alpha val="48000"/>
                    </a:srgbClr>
                  </a:outerShdw>
                </a:effectLst>
              </a:rPr>
              <a:t>Tools Used :-</a:t>
            </a:r>
          </a:p>
          <a:p>
            <a:pPr marL="228600" lvl="0" indent="-228600" defTabSz="914400">
              <a:lnSpc>
                <a:spcPct val="120000"/>
              </a:lnSpc>
              <a:spcBef>
                <a:spcPts val="1000"/>
              </a:spcBef>
              <a:buFont typeface="Wingdings" panose="05000000000000000000" pitchFamily="2" charset="2"/>
              <a:buChar char="ü"/>
            </a:pPr>
            <a:r>
              <a:rPr lang="en-US" sz="2000" dirty="0">
                <a:solidFill>
                  <a:prstClr val="white"/>
                </a:solidFill>
                <a:effectLst>
                  <a:outerShdw blurRad="50800" dist="38100" dir="2700000" algn="tl" rotWithShape="0">
                    <a:srgbClr val="000000">
                      <a:alpha val="48000"/>
                    </a:srgbClr>
                  </a:outerShdw>
                </a:effectLst>
              </a:rPr>
              <a:t>  </a:t>
            </a:r>
            <a:r>
              <a:rPr lang="en-US" sz="2000" dirty="0" err="1"/>
              <a:t>ExcaliDraw</a:t>
            </a:r>
            <a:r>
              <a:rPr lang="en-US" sz="2000" dirty="0">
                <a:solidFill>
                  <a:prstClr val="white"/>
                </a:solidFill>
                <a:effectLst>
                  <a:outerShdw blurRad="50800" dist="38100" dir="2700000" algn="tl" rotWithShape="0">
                    <a:srgbClr val="000000">
                      <a:alpha val="48000"/>
                    </a:srgbClr>
                  </a:outerShdw>
                </a:effectLst>
              </a:rPr>
              <a:t>  </a:t>
            </a:r>
          </a:p>
          <a:p>
            <a:pPr marL="228600" lvl="0" indent="-228600" defTabSz="914400">
              <a:lnSpc>
                <a:spcPct val="120000"/>
              </a:lnSpc>
              <a:spcBef>
                <a:spcPts val="1000"/>
              </a:spcBef>
              <a:buFont typeface="Wingdings" panose="05000000000000000000" pitchFamily="2" charset="2"/>
              <a:buChar char="ü"/>
            </a:pPr>
            <a:r>
              <a:rPr lang="en-US" sz="2000" dirty="0">
                <a:solidFill>
                  <a:prstClr val="white"/>
                </a:solidFill>
                <a:effectLst>
                  <a:outerShdw blurRad="50800" dist="38100" dir="2700000" algn="tl" rotWithShape="0">
                    <a:srgbClr val="000000">
                      <a:alpha val="48000"/>
                    </a:srgbClr>
                  </a:outerShdw>
                </a:effectLst>
              </a:rPr>
              <a:t>   </a:t>
            </a:r>
            <a:r>
              <a:rPr lang="en-US" sz="2000" dirty="0" err="1"/>
              <a:t>Git</a:t>
            </a:r>
            <a:r>
              <a:rPr lang="en-US" sz="2000" dirty="0">
                <a:solidFill>
                  <a:prstClr val="white"/>
                </a:solidFill>
                <a:effectLst>
                  <a:outerShdw blurRad="50800" dist="38100" dir="2700000" algn="tl" rotWithShape="0">
                    <a:srgbClr val="000000">
                      <a:alpha val="48000"/>
                    </a:srgbClr>
                  </a:outerShdw>
                </a:effectLst>
              </a:rPr>
              <a:t>   </a:t>
            </a:r>
          </a:p>
          <a:p>
            <a:pPr marL="228600" lvl="0" indent="-228600" defTabSz="914400">
              <a:lnSpc>
                <a:spcPct val="120000"/>
              </a:lnSpc>
              <a:spcBef>
                <a:spcPts val="1000"/>
              </a:spcBef>
              <a:buFont typeface="Wingdings" panose="05000000000000000000" pitchFamily="2" charset="2"/>
              <a:buChar char="ü"/>
            </a:pPr>
            <a:r>
              <a:rPr lang="en-US" sz="2000" dirty="0">
                <a:solidFill>
                  <a:prstClr val="white"/>
                </a:solidFill>
                <a:effectLst>
                  <a:outerShdw blurRad="50800" dist="38100" dir="2700000" algn="tl" rotWithShape="0">
                    <a:srgbClr val="000000">
                      <a:alpha val="48000"/>
                    </a:srgbClr>
                  </a:outerShdw>
                </a:effectLst>
              </a:rPr>
              <a:t>   </a:t>
            </a:r>
            <a:r>
              <a:rPr lang="en-US" sz="2000" dirty="0"/>
              <a:t>GitHub</a:t>
            </a:r>
            <a:r>
              <a:rPr lang="en-US" sz="2000" dirty="0">
                <a:solidFill>
                  <a:prstClr val="white"/>
                </a:solidFill>
                <a:effectLst>
                  <a:outerShdw blurRad="50800" dist="38100" dir="2700000" algn="tl" rotWithShape="0">
                    <a:srgbClr val="000000">
                      <a:alpha val="48000"/>
                    </a:srgbClr>
                  </a:outerShdw>
                </a:effectLst>
              </a:rPr>
              <a:t>  </a:t>
            </a:r>
          </a:p>
          <a:p>
            <a:pPr marL="228600" lvl="0" indent="-228600" defTabSz="914400">
              <a:lnSpc>
                <a:spcPct val="120000"/>
              </a:lnSpc>
              <a:spcBef>
                <a:spcPts val="1000"/>
              </a:spcBef>
              <a:buFont typeface="Wingdings" panose="05000000000000000000" pitchFamily="2" charset="2"/>
              <a:buChar char="ü"/>
            </a:pPr>
            <a:r>
              <a:rPr lang="en-US" sz="2000" dirty="0">
                <a:solidFill>
                  <a:prstClr val="white"/>
                </a:solidFill>
                <a:effectLst>
                  <a:outerShdw blurRad="50800" dist="38100" dir="2700000" algn="tl" rotWithShape="0">
                    <a:srgbClr val="000000">
                      <a:alpha val="48000"/>
                    </a:srgbClr>
                  </a:outerShdw>
                </a:effectLst>
              </a:rPr>
              <a:t>   </a:t>
            </a:r>
            <a:r>
              <a:rPr lang="en-US" sz="2000" dirty="0"/>
              <a:t>Eclipse</a:t>
            </a:r>
          </a:p>
          <a:p>
            <a:pPr marL="228600" lvl="0" indent="-228600" defTabSz="914400">
              <a:lnSpc>
                <a:spcPct val="120000"/>
              </a:lnSpc>
              <a:spcBef>
                <a:spcPts val="1000"/>
              </a:spcBef>
              <a:buFont typeface="Wingdings" panose="05000000000000000000" pitchFamily="2" charset="2"/>
              <a:buChar char="ü"/>
            </a:pPr>
            <a:r>
              <a:rPr lang="en-US" sz="2000" dirty="0">
                <a:solidFill>
                  <a:prstClr val="white"/>
                </a:solidFill>
                <a:effectLst>
                  <a:outerShdw blurRad="50800" dist="38100" dir="2700000" algn="tl" rotWithShape="0">
                    <a:srgbClr val="000000">
                      <a:alpha val="48000"/>
                    </a:srgbClr>
                  </a:outerShdw>
                </a:effectLst>
              </a:rPr>
              <a:t>   </a:t>
            </a:r>
            <a:r>
              <a:rPr lang="en-US" sz="2000" dirty="0"/>
              <a:t>Oracle 10g Express Edition</a:t>
            </a:r>
          </a:p>
          <a:p>
            <a:pPr marL="228600" lvl="0" indent="-228600" defTabSz="914400">
              <a:lnSpc>
                <a:spcPct val="120000"/>
              </a:lnSpc>
              <a:spcBef>
                <a:spcPts val="1000"/>
              </a:spcBef>
              <a:buFont typeface="Wingdings" panose="05000000000000000000" pitchFamily="2" charset="2"/>
              <a:buChar char="ü"/>
            </a:pPr>
            <a:r>
              <a:rPr lang="en-US" sz="2000" dirty="0">
                <a:solidFill>
                  <a:prstClr val="white"/>
                </a:solidFill>
                <a:effectLst>
                  <a:outerShdw blurRad="50800" dist="38100" dir="2700000" algn="tl" rotWithShape="0">
                    <a:srgbClr val="000000">
                      <a:alpha val="48000"/>
                    </a:srgbClr>
                  </a:outerShdw>
                </a:effectLst>
              </a:rPr>
              <a:t>    </a:t>
            </a:r>
            <a:r>
              <a:rPr lang="en-US" sz="2000" dirty="0"/>
              <a:t>VS Code</a:t>
            </a:r>
          </a:p>
          <a:p>
            <a:pPr marL="228600" lvl="0" indent="-228600" defTabSz="914400">
              <a:lnSpc>
                <a:spcPct val="120000"/>
              </a:lnSpc>
              <a:spcBef>
                <a:spcPts val="1000"/>
              </a:spcBef>
              <a:buFont typeface="Wingdings" panose="05000000000000000000" pitchFamily="2" charset="2"/>
              <a:buChar char="ü"/>
            </a:pPr>
            <a:r>
              <a:rPr lang="en-US" sz="2000" dirty="0">
                <a:solidFill>
                  <a:prstClr val="white"/>
                </a:solidFill>
                <a:effectLst>
                  <a:outerShdw blurRad="50800" dist="38100" dir="2700000" algn="tl" rotWithShape="0">
                    <a:srgbClr val="000000">
                      <a:alpha val="48000"/>
                    </a:srgbClr>
                  </a:outerShdw>
                </a:effectLst>
              </a:rPr>
              <a:t>   </a:t>
            </a:r>
            <a:r>
              <a:rPr lang="en-US" sz="2000" dirty="0"/>
              <a:t>Smart Draw</a:t>
            </a:r>
            <a:endParaRPr lang="en-US" sz="2000" dirty="0">
              <a:solidFill>
                <a:prstClr val="white"/>
              </a:solidFill>
              <a:effectLst>
                <a:outerShdw blurRad="50800" dist="38100" dir="2700000" algn="tl" rotWithShape="0">
                  <a:srgbClr val="000000">
                    <a:alpha val="48000"/>
                  </a:srgbClr>
                </a:outerShdw>
              </a:effectLst>
            </a:endParaRPr>
          </a:p>
        </p:txBody>
      </p:sp>
    </p:spTree>
    <p:extLst>
      <p:ext uri="{BB962C8B-B14F-4D97-AF65-F5344CB8AC3E}">
        <p14:creationId xmlns:p14="http://schemas.microsoft.com/office/powerpoint/2010/main" val="2041876323"/>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Implementation of Modules</a:t>
            </a:r>
          </a:p>
        </p:txBody>
      </p:sp>
      <p:sp>
        <p:nvSpPr>
          <p:cNvPr id="3" name="Content Placeholder 2"/>
          <p:cNvSpPr>
            <a:spLocks noGrp="1"/>
          </p:cNvSpPr>
          <p:nvPr>
            <p:ph idx="1"/>
          </p:nvPr>
        </p:nvSpPr>
        <p:spPr>
          <a:xfrm>
            <a:off x="1298703" y="1943562"/>
            <a:ext cx="9968853" cy="466832"/>
          </a:xfrm>
        </p:spPr>
        <p:txBody>
          <a:bodyPr/>
          <a:lstStyle/>
          <a:p>
            <a:r>
              <a:rPr lang="en-US" dirty="0"/>
              <a:t>The proposed system is divided into two different modules as follows:</a:t>
            </a:r>
          </a:p>
          <a:p>
            <a:endParaRPr lang="en-US" dirty="0"/>
          </a:p>
          <a:p>
            <a:endParaRPr lang="en-US" dirty="0"/>
          </a:p>
        </p:txBody>
      </p:sp>
      <p:sp>
        <p:nvSpPr>
          <p:cNvPr id="5" name="TextBox 4"/>
          <p:cNvSpPr txBox="1"/>
          <p:nvPr/>
        </p:nvSpPr>
        <p:spPr>
          <a:xfrm>
            <a:off x="913795" y="2884868"/>
            <a:ext cx="4739426" cy="2893100"/>
          </a:xfrm>
          <a:prstGeom prst="rect">
            <a:avLst/>
          </a:prstGeom>
          <a:noFill/>
        </p:spPr>
        <p:txBody>
          <a:bodyPr wrap="square" rtlCol="0">
            <a:spAutoFit/>
          </a:bodyPr>
          <a:lstStyle/>
          <a:p>
            <a:pPr marL="285750" indent="-285750">
              <a:buFont typeface="Wingdings" panose="05000000000000000000" pitchFamily="2" charset="2"/>
              <a:buChar char="v"/>
            </a:pPr>
            <a:r>
              <a:rPr lang="en-US" sz="2000" b="1" i="1" dirty="0">
                <a:solidFill>
                  <a:srgbClr val="FFC000"/>
                </a:solidFill>
              </a:rPr>
              <a:t>Static  :</a:t>
            </a:r>
            <a:r>
              <a:rPr lang="en-US" dirty="0">
                <a:solidFill>
                  <a:srgbClr val="FFC000"/>
                </a:solidFill>
              </a:rPr>
              <a:t>–</a:t>
            </a:r>
          </a:p>
          <a:p>
            <a:pPr marL="285750" indent="-285750">
              <a:buFont typeface="Wingdings" panose="05000000000000000000" pitchFamily="2" charset="2"/>
              <a:buChar char="v"/>
            </a:pPr>
            <a:endParaRPr lang="en-US" dirty="0">
              <a:solidFill>
                <a:srgbClr val="FFC000"/>
              </a:solidFill>
            </a:endParaRPr>
          </a:p>
          <a:p>
            <a:r>
              <a:rPr lang="en-US" dirty="0"/>
              <a:t>This part consist of all the static and GUI part of the site. Which is responsive Its is divided into five modules. They are: </a:t>
            </a:r>
          </a:p>
          <a:p>
            <a:endParaRPr lang="en-US" dirty="0"/>
          </a:p>
          <a:p>
            <a:pPr marL="285750" indent="-285750">
              <a:buFont typeface="Wingdings" panose="05000000000000000000" pitchFamily="2" charset="2"/>
              <a:buChar char="§"/>
            </a:pPr>
            <a:r>
              <a:rPr lang="en-US" dirty="0"/>
              <a:t>Home</a:t>
            </a:r>
          </a:p>
          <a:p>
            <a:pPr marL="285750" indent="-285750">
              <a:buFont typeface="Wingdings" panose="05000000000000000000" pitchFamily="2" charset="2"/>
              <a:buChar char="§"/>
            </a:pPr>
            <a:r>
              <a:rPr lang="en-US" dirty="0"/>
              <a:t>Services</a:t>
            </a:r>
          </a:p>
          <a:p>
            <a:pPr marL="285750" indent="-285750">
              <a:buFont typeface="Wingdings" panose="05000000000000000000" pitchFamily="2" charset="2"/>
              <a:buChar char="§"/>
            </a:pPr>
            <a:r>
              <a:rPr lang="en-US" dirty="0"/>
              <a:t>Doctors</a:t>
            </a:r>
          </a:p>
          <a:p>
            <a:pPr marL="285750" indent="-285750">
              <a:buFont typeface="Wingdings" panose="05000000000000000000" pitchFamily="2" charset="2"/>
              <a:buChar char="§"/>
            </a:pPr>
            <a:r>
              <a:rPr lang="en-US" dirty="0"/>
              <a:t>Review</a:t>
            </a:r>
          </a:p>
        </p:txBody>
      </p:sp>
      <p:sp>
        <p:nvSpPr>
          <p:cNvPr id="6" name="Rectangle 5"/>
          <p:cNvSpPr/>
          <p:nvPr/>
        </p:nvSpPr>
        <p:spPr>
          <a:xfrm>
            <a:off x="6555345" y="2884867"/>
            <a:ext cx="5438875" cy="2616101"/>
          </a:xfrm>
          <a:prstGeom prst="rect">
            <a:avLst/>
          </a:prstGeom>
        </p:spPr>
        <p:txBody>
          <a:bodyPr wrap="square">
            <a:spAutoFit/>
          </a:bodyPr>
          <a:lstStyle/>
          <a:p>
            <a:pPr marL="285750" indent="-285750">
              <a:buFont typeface="Wingdings" panose="05000000000000000000" pitchFamily="2" charset="2"/>
              <a:buChar char="v"/>
            </a:pPr>
            <a:r>
              <a:rPr lang="en-US" sz="2000" b="1" i="1" dirty="0">
                <a:solidFill>
                  <a:srgbClr val="FFC000"/>
                </a:solidFill>
              </a:rPr>
              <a:t>Dynamic   :</a:t>
            </a:r>
            <a:r>
              <a:rPr lang="en-US" dirty="0">
                <a:solidFill>
                  <a:srgbClr val="FFC000"/>
                </a:solidFill>
              </a:rPr>
              <a:t>–</a:t>
            </a:r>
          </a:p>
          <a:p>
            <a:pPr marL="285750" indent="-285750">
              <a:buFont typeface="Wingdings" panose="05000000000000000000" pitchFamily="2" charset="2"/>
              <a:buChar char="v"/>
            </a:pPr>
            <a:endParaRPr lang="en-US" dirty="0">
              <a:solidFill>
                <a:srgbClr val="FFC000"/>
              </a:solidFill>
            </a:endParaRPr>
          </a:p>
          <a:p>
            <a:r>
              <a:rPr lang="en-US" dirty="0"/>
              <a:t>This part of the site is responsible for making it dynamic .Which is responsive Its is divided into Three modules. They are: </a:t>
            </a:r>
          </a:p>
          <a:p>
            <a:endParaRPr lang="en-US" dirty="0"/>
          </a:p>
          <a:p>
            <a:pPr marL="285750" indent="-285750">
              <a:buFont typeface="Wingdings" panose="05000000000000000000" pitchFamily="2" charset="2"/>
              <a:buChar char="§"/>
            </a:pPr>
            <a:r>
              <a:rPr lang="en-US" dirty="0"/>
              <a:t>Admin Login</a:t>
            </a:r>
          </a:p>
          <a:p>
            <a:pPr marL="285750" indent="-285750">
              <a:buFont typeface="Wingdings" panose="05000000000000000000" pitchFamily="2" charset="2"/>
              <a:buChar char="§"/>
            </a:pPr>
            <a:r>
              <a:rPr lang="en-US" dirty="0"/>
              <a:t>Doctor’s / Staff Login </a:t>
            </a:r>
          </a:p>
          <a:p>
            <a:pPr marL="285750" indent="-285750">
              <a:buFont typeface="Wingdings" panose="05000000000000000000" pitchFamily="2" charset="2"/>
              <a:buChar char="§"/>
            </a:pPr>
            <a:r>
              <a:rPr lang="en-US" dirty="0"/>
              <a:t>Patient/User Login</a:t>
            </a:r>
          </a:p>
        </p:txBody>
      </p:sp>
    </p:spTree>
    <p:extLst>
      <p:ext uri="{BB962C8B-B14F-4D97-AF65-F5344CB8AC3E}">
        <p14:creationId xmlns:p14="http://schemas.microsoft.com/office/powerpoint/2010/main" val="1587180648"/>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Static Part</a:t>
            </a:r>
          </a:p>
        </p:txBody>
      </p:sp>
      <p:sp>
        <p:nvSpPr>
          <p:cNvPr id="3" name="Content Placeholder 2"/>
          <p:cNvSpPr>
            <a:spLocks noGrp="1"/>
          </p:cNvSpPr>
          <p:nvPr>
            <p:ph idx="1"/>
          </p:nvPr>
        </p:nvSpPr>
        <p:spPr/>
        <p:txBody>
          <a:bodyPr/>
          <a:lstStyle/>
          <a:p>
            <a:r>
              <a:rPr lang="en-US" dirty="0">
                <a:solidFill>
                  <a:srgbClr val="FFC000"/>
                </a:solidFill>
              </a:rPr>
              <a:t>Home –  </a:t>
            </a:r>
            <a:r>
              <a:rPr lang="en-US" dirty="0"/>
              <a:t>Which will act as a navigator through the pages of the site. It gives about the whole idea that the project and hospital is about. </a:t>
            </a:r>
          </a:p>
          <a:p>
            <a:pPr marL="0" indent="0">
              <a:buNone/>
            </a:pPr>
            <a:r>
              <a:rPr lang="en-US" dirty="0">
                <a:solidFill>
                  <a:srgbClr val="FFC000"/>
                </a:solidFill>
              </a:rPr>
              <a:t>• Services-  </a:t>
            </a:r>
            <a:r>
              <a:rPr lang="en-US" dirty="0"/>
              <a:t>This tab make users aware about the Services hospital provides. </a:t>
            </a:r>
          </a:p>
          <a:p>
            <a:pPr marL="0" indent="0">
              <a:buNone/>
            </a:pPr>
            <a:r>
              <a:rPr lang="en-US" dirty="0">
                <a:solidFill>
                  <a:srgbClr val="FFC000"/>
                </a:solidFill>
              </a:rPr>
              <a:t>• Doctors-  </a:t>
            </a:r>
            <a:r>
              <a:rPr lang="en-US" dirty="0"/>
              <a:t>In this page all the specialized and doctors they are serving the hospital are shown with their Qualifications and Specialties. </a:t>
            </a:r>
          </a:p>
          <a:p>
            <a:pPr marL="0" indent="0">
              <a:buNone/>
            </a:pPr>
            <a:r>
              <a:rPr lang="en-US" dirty="0">
                <a:solidFill>
                  <a:srgbClr val="FFC000"/>
                </a:solidFill>
              </a:rPr>
              <a:t>• Review-  </a:t>
            </a:r>
            <a:r>
              <a:rPr lang="en-US" dirty="0"/>
              <a:t>To provide the review and Feedback.</a:t>
            </a:r>
          </a:p>
        </p:txBody>
      </p:sp>
    </p:spTree>
    <p:extLst>
      <p:ext uri="{BB962C8B-B14F-4D97-AF65-F5344CB8AC3E}">
        <p14:creationId xmlns:p14="http://schemas.microsoft.com/office/powerpoint/2010/main" val="1514619529"/>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B83E2-26CF-38F1-BF9B-A29EB9505232}"/>
              </a:ext>
            </a:extLst>
          </p:cNvPr>
          <p:cNvSpPr>
            <a:spLocks noGrp="1"/>
          </p:cNvSpPr>
          <p:nvPr>
            <p:ph type="title"/>
          </p:nvPr>
        </p:nvSpPr>
        <p:spPr>
          <a:xfrm>
            <a:off x="913796" y="201227"/>
            <a:ext cx="10353761" cy="1326321"/>
          </a:xfrm>
        </p:spPr>
        <p:txBody>
          <a:bodyPr/>
          <a:lstStyle/>
          <a:p>
            <a:r>
              <a:rPr lang="en-IN" dirty="0">
                <a:solidFill>
                  <a:srgbClr val="FFFF00"/>
                </a:solidFill>
              </a:rPr>
              <a:t>Dynamic part</a:t>
            </a:r>
          </a:p>
        </p:txBody>
      </p:sp>
      <p:sp>
        <p:nvSpPr>
          <p:cNvPr id="3" name="Content Placeholder 2">
            <a:extLst>
              <a:ext uri="{FF2B5EF4-FFF2-40B4-BE49-F238E27FC236}">
                <a16:creationId xmlns:a16="http://schemas.microsoft.com/office/drawing/2014/main" id="{9A437401-D801-37F0-3191-1CE0575A9106}"/>
              </a:ext>
            </a:extLst>
          </p:cNvPr>
          <p:cNvSpPr>
            <a:spLocks noGrp="1"/>
          </p:cNvSpPr>
          <p:nvPr>
            <p:ph idx="1"/>
          </p:nvPr>
        </p:nvSpPr>
        <p:spPr>
          <a:xfrm>
            <a:off x="843379" y="1527549"/>
            <a:ext cx="10424178" cy="4263652"/>
          </a:xfrm>
        </p:spPr>
        <p:txBody>
          <a:bodyPr>
            <a:normAutofit/>
          </a:bodyPr>
          <a:lstStyle/>
          <a:p>
            <a:pPr algn="just">
              <a:tabLst>
                <a:tab pos="546735" algn="l"/>
              </a:tabLst>
            </a:pPr>
            <a:r>
              <a:rPr lang="en-US" b="1" dirty="0">
                <a:solidFill>
                  <a:srgbClr val="FFC000"/>
                </a:solidFill>
                <a:effectLst/>
                <a:ea typeface="Times New Roman" panose="02020603050405020304" pitchFamily="18" charset="0"/>
              </a:rPr>
              <a:t>Admin Module : </a:t>
            </a:r>
          </a:p>
          <a:p>
            <a:pPr marL="0" indent="0" algn="just">
              <a:buNone/>
              <a:tabLst>
                <a:tab pos="546735" algn="l"/>
              </a:tabLst>
            </a:pPr>
            <a:r>
              <a:rPr lang="en-US" dirty="0">
                <a:effectLst/>
                <a:ea typeface="Times New Roman" panose="02020603050405020304" pitchFamily="18" charset="0"/>
              </a:rPr>
              <a:t>Admin have to register with the correct credential and then he/she would be able to see the dashboard, which will show number of doctors and patient registered, visitors and reviews count.</a:t>
            </a:r>
            <a:endParaRPr lang="en-IN" dirty="0">
              <a:effectLst/>
              <a:ea typeface="Times New Roman" panose="02020603050405020304" pitchFamily="18" charset="0"/>
            </a:endParaRPr>
          </a:p>
          <a:p>
            <a:pPr marL="342900" lvl="0" indent="-342900">
              <a:lnSpc>
                <a:spcPct val="150000"/>
              </a:lnSpc>
              <a:spcAft>
                <a:spcPts val="0"/>
              </a:spcAft>
              <a:buFont typeface="Wingdings" panose="05000000000000000000" pitchFamily="2" charset="2"/>
              <a:buChar char=""/>
            </a:pPr>
            <a:r>
              <a:rPr lang="en-US" dirty="0">
                <a:solidFill>
                  <a:srgbClr val="FFC000"/>
                </a:solidFill>
                <a:effectLst/>
                <a:ea typeface="Times New Roman" panose="02020603050405020304" pitchFamily="18" charset="0"/>
              </a:rPr>
              <a:t>Doctors-</a:t>
            </a:r>
            <a:r>
              <a:rPr lang="en-US" dirty="0">
                <a:effectLst/>
                <a:ea typeface="Times New Roman" panose="02020603050405020304" pitchFamily="18" charset="0"/>
              </a:rPr>
              <a:t> Table fetched from Database showing doctors registered with details. </a:t>
            </a:r>
            <a:endParaRPr lang="en-IN" dirty="0">
              <a:effectLst/>
              <a:ea typeface="Times New Roman" panose="02020603050405020304" pitchFamily="18" charset="0"/>
            </a:endParaRPr>
          </a:p>
          <a:p>
            <a:pPr marL="342900" lvl="0" indent="-342900">
              <a:lnSpc>
                <a:spcPct val="150000"/>
              </a:lnSpc>
              <a:spcAft>
                <a:spcPts val="0"/>
              </a:spcAft>
              <a:buFont typeface="Wingdings" panose="05000000000000000000" pitchFamily="2" charset="2"/>
              <a:buChar char=""/>
            </a:pPr>
            <a:r>
              <a:rPr lang="en-US" dirty="0">
                <a:solidFill>
                  <a:srgbClr val="FFC000"/>
                </a:solidFill>
                <a:effectLst/>
                <a:ea typeface="Times New Roman" panose="02020603050405020304" pitchFamily="18" charset="0"/>
              </a:rPr>
              <a:t>Patient-</a:t>
            </a:r>
            <a:r>
              <a:rPr lang="en-US" dirty="0">
                <a:effectLst/>
                <a:ea typeface="Times New Roman" panose="02020603050405020304" pitchFamily="18" charset="0"/>
              </a:rPr>
              <a:t> Table fetched from Database showing patients registered with details. </a:t>
            </a:r>
            <a:endParaRPr lang="en-IN" dirty="0">
              <a:effectLst/>
              <a:ea typeface="Times New Roman" panose="02020603050405020304" pitchFamily="18" charset="0"/>
            </a:endParaRPr>
          </a:p>
          <a:p>
            <a:pPr marL="342900" lvl="0" indent="-342900">
              <a:lnSpc>
                <a:spcPct val="150000"/>
              </a:lnSpc>
              <a:spcAft>
                <a:spcPts val="0"/>
              </a:spcAft>
              <a:buFont typeface="Wingdings" panose="05000000000000000000" pitchFamily="2" charset="2"/>
              <a:buChar char=""/>
            </a:pPr>
            <a:r>
              <a:rPr lang="en-US" dirty="0">
                <a:solidFill>
                  <a:srgbClr val="FFC000"/>
                </a:solidFill>
                <a:effectLst/>
                <a:ea typeface="Times New Roman" panose="02020603050405020304" pitchFamily="18" charset="0"/>
              </a:rPr>
              <a:t>Reviews-</a:t>
            </a:r>
            <a:r>
              <a:rPr lang="en-US" dirty="0">
                <a:effectLst/>
                <a:ea typeface="Times New Roman" panose="02020603050405020304" pitchFamily="18" charset="0"/>
              </a:rPr>
              <a:t> Table fetched from Database Showing reviews. </a:t>
            </a:r>
            <a:endParaRPr lang="en-IN" dirty="0">
              <a:effectLst/>
              <a:ea typeface="Times New Roman" panose="02020603050405020304" pitchFamily="18" charset="0"/>
            </a:endParaRPr>
          </a:p>
          <a:p>
            <a:pPr marL="342900" lvl="0" indent="-342900">
              <a:lnSpc>
                <a:spcPct val="150000"/>
              </a:lnSpc>
              <a:spcAft>
                <a:spcPts val="0"/>
              </a:spcAft>
              <a:buFont typeface="Wingdings" panose="05000000000000000000" pitchFamily="2" charset="2"/>
              <a:buChar char=""/>
            </a:pPr>
            <a:r>
              <a:rPr lang="en-US" dirty="0">
                <a:solidFill>
                  <a:srgbClr val="FFC000"/>
                </a:solidFill>
                <a:effectLst/>
                <a:ea typeface="Times New Roman" panose="02020603050405020304" pitchFamily="18" charset="0"/>
              </a:rPr>
              <a:t>Add Doctors- </a:t>
            </a:r>
            <a:r>
              <a:rPr lang="en-US" dirty="0">
                <a:effectLst/>
                <a:ea typeface="Times New Roman" panose="02020603050405020304" pitchFamily="18" charset="0"/>
              </a:rPr>
              <a:t>It is used to add the doctor with specified specialization to the hospital.</a:t>
            </a:r>
            <a:endParaRPr lang="en-IN" dirty="0">
              <a:effectLst/>
              <a:ea typeface="Times New Roman" panose="02020603050405020304" pitchFamily="18" charset="0"/>
            </a:endParaRPr>
          </a:p>
          <a:p>
            <a:endParaRPr lang="en-IN" dirty="0"/>
          </a:p>
        </p:txBody>
      </p:sp>
    </p:spTree>
    <p:extLst>
      <p:ext uri="{BB962C8B-B14F-4D97-AF65-F5344CB8AC3E}">
        <p14:creationId xmlns:p14="http://schemas.microsoft.com/office/powerpoint/2010/main" val="396243623"/>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BEF182-9540-8FDA-BDD7-FB4680E2B604}"/>
              </a:ext>
            </a:extLst>
          </p:cNvPr>
          <p:cNvSpPr>
            <a:spLocks noGrp="1"/>
          </p:cNvSpPr>
          <p:nvPr>
            <p:ph idx="1"/>
          </p:nvPr>
        </p:nvSpPr>
        <p:spPr>
          <a:xfrm>
            <a:off x="834501" y="1393625"/>
            <a:ext cx="10602898" cy="4598802"/>
          </a:xfrm>
        </p:spPr>
        <p:txBody>
          <a:bodyPr/>
          <a:lstStyle/>
          <a:p>
            <a:pPr>
              <a:lnSpc>
                <a:spcPct val="150000"/>
              </a:lnSpc>
              <a:spcAft>
                <a:spcPts val="0"/>
              </a:spcAft>
            </a:pPr>
            <a:r>
              <a:rPr lang="en-US" b="1" dirty="0">
                <a:solidFill>
                  <a:srgbClr val="FFC000"/>
                </a:solidFill>
                <a:effectLst/>
                <a:ea typeface="Times New Roman" panose="02020603050405020304" pitchFamily="18" charset="0"/>
              </a:rPr>
              <a:t>Doctor’s/ Staff Module–</a:t>
            </a:r>
          </a:p>
          <a:p>
            <a:pPr marL="0" indent="0">
              <a:lnSpc>
                <a:spcPct val="150000"/>
              </a:lnSpc>
              <a:spcAft>
                <a:spcPts val="0"/>
              </a:spcAft>
              <a:buNone/>
            </a:pPr>
            <a:r>
              <a:rPr lang="en-US" dirty="0">
                <a:effectLst/>
                <a:ea typeface="Times New Roman" panose="02020603050405020304" pitchFamily="18" charset="0"/>
              </a:rPr>
              <a:t>This section is only for Doctors or the staff of the hospital that are already registered.</a:t>
            </a:r>
            <a:endParaRPr lang="en-IN" dirty="0">
              <a:effectLst/>
              <a:ea typeface="Times New Roman" panose="02020603050405020304" pitchFamily="18" charset="0"/>
            </a:endParaRPr>
          </a:p>
          <a:p>
            <a:pPr marL="342900" lvl="0" indent="-342900">
              <a:lnSpc>
                <a:spcPct val="150000"/>
              </a:lnSpc>
              <a:spcAft>
                <a:spcPts val="0"/>
              </a:spcAft>
              <a:buFont typeface="Wingdings" panose="05000000000000000000" pitchFamily="2" charset="2"/>
              <a:buChar char=""/>
            </a:pPr>
            <a:r>
              <a:rPr lang="en-US" dirty="0">
                <a:solidFill>
                  <a:srgbClr val="FFC000"/>
                </a:solidFill>
                <a:effectLst/>
                <a:ea typeface="Times New Roman" panose="02020603050405020304" pitchFamily="18" charset="0"/>
              </a:rPr>
              <a:t>Appointment History-  </a:t>
            </a:r>
            <a:r>
              <a:rPr lang="en-US" dirty="0">
                <a:effectLst/>
                <a:ea typeface="Times New Roman" panose="02020603050405020304" pitchFamily="18" charset="0"/>
              </a:rPr>
              <a:t>They can see the appointment history (for particular doctor)</a:t>
            </a:r>
            <a:endParaRPr lang="en-IN" dirty="0">
              <a:effectLst/>
              <a:ea typeface="Times New Roman" panose="02020603050405020304" pitchFamily="18" charset="0"/>
            </a:endParaRPr>
          </a:p>
          <a:p>
            <a:pPr marL="342900" lvl="0" indent="-342900">
              <a:lnSpc>
                <a:spcPct val="150000"/>
              </a:lnSpc>
              <a:spcAft>
                <a:spcPts val="0"/>
              </a:spcAft>
              <a:buFont typeface="Wingdings" panose="05000000000000000000" pitchFamily="2" charset="2"/>
              <a:buChar char=""/>
            </a:pPr>
            <a:r>
              <a:rPr lang="en-US" dirty="0">
                <a:solidFill>
                  <a:srgbClr val="FFC000"/>
                </a:solidFill>
                <a:effectLst/>
                <a:ea typeface="Times New Roman" panose="02020603050405020304" pitchFamily="18" charset="0"/>
              </a:rPr>
              <a:t>Active Appointments- </a:t>
            </a:r>
            <a:r>
              <a:rPr lang="en-US" dirty="0">
                <a:effectLst/>
                <a:ea typeface="Times New Roman" panose="02020603050405020304" pitchFamily="18" charset="0"/>
              </a:rPr>
              <a:t>Appointments that are active are seen under this tab.</a:t>
            </a:r>
            <a:endParaRPr lang="en-IN" dirty="0">
              <a:effectLst/>
              <a:ea typeface="Times New Roman" panose="02020603050405020304" pitchFamily="18" charset="0"/>
            </a:endParaRPr>
          </a:p>
          <a:p>
            <a:pPr marL="342900" lvl="0" indent="-342900">
              <a:lnSpc>
                <a:spcPct val="150000"/>
              </a:lnSpc>
              <a:spcAft>
                <a:spcPts val="0"/>
              </a:spcAft>
              <a:buFont typeface="Wingdings" panose="05000000000000000000" pitchFamily="2" charset="2"/>
              <a:buChar char=""/>
            </a:pPr>
            <a:r>
              <a:rPr lang="en-US" dirty="0">
                <a:solidFill>
                  <a:srgbClr val="FFC000"/>
                </a:solidFill>
                <a:effectLst/>
                <a:ea typeface="Times New Roman" panose="02020603050405020304" pitchFamily="18" charset="0"/>
              </a:rPr>
              <a:t>Prescription-</a:t>
            </a:r>
            <a:r>
              <a:rPr lang="en-US" dirty="0">
                <a:effectLst/>
                <a:ea typeface="Times New Roman" panose="02020603050405020304" pitchFamily="18" charset="0"/>
              </a:rPr>
              <a:t> They can provide prescription to the patients with whom appointment is booked.</a:t>
            </a:r>
            <a:endParaRPr lang="en-IN" dirty="0">
              <a:effectLst/>
              <a:ea typeface="Times New Roman" panose="02020603050405020304" pitchFamily="18" charset="0"/>
            </a:endParaRPr>
          </a:p>
          <a:p>
            <a:pPr marL="342900" lvl="0" indent="-342900">
              <a:lnSpc>
                <a:spcPct val="150000"/>
              </a:lnSpc>
              <a:spcAft>
                <a:spcPts val="0"/>
              </a:spcAft>
              <a:buFont typeface="Wingdings" panose="05000000000000000000" pitchFamily="2" charset="2"/>
              <a:buChar char=""/>
            </a:pPr>
            <a:r>
              <a:rPr lang="en-US" dirty="0">
                <a:effectLst/>
                <a:ea typeface="Times New Roman" panose="02020603050405020304" pitchFamily="18" charset="0"/>
              </a:rPr>
              <a:t>After Appointment confirmation the </a:t>
            </a:r>
            <a:r>
              <a:rPr lang="en-US" dirty="0">
                <a:solidFill>
                  <a:srgbClr val="FFC000"/>
                </a:solidFill>
                <a:effectLst/>
                <a:ea typeface="Times New Roman" panose="02020603050405020304" pitchFamily="18" charset="0"/>
              </a:rPr>
              <a:t>SMS </a:t>
            </a:r>
            <a:r>
              <a:rPr lang="en-US" dirty="0">
                <a:effectLst/>
                <a:ea typeface="Times New Roman" panose="02020603050405020304" pitchFamily="18" charset="0"/>
              </a:rPr>
              <a:t>is send to the concerned patient.</a:t>
            </a:r>
            <a:endParaRPr lang="en-IN" dirty="0">
              <a:effectLst/>
              <a:ea typeface="Times New Roman" panose="02020603050405020304" pitchFamily="18" charset="0"/>
            </a:endParaRPr>
          </a:p>
          <a:p>
            <a:endParaRPr lang="en-IN" dirty="0"/>
          </a:p>
        </p:txBody>
      </p:sp>
      <p:sp>
        <p:nvSpPr>
          <p:cNvPr id="4" name="Title 1">
            <a:extLst>
              <a:ext uri="{FF2B5EF4-FFF2-40B4-BE49-F238E27FC236}">
                <a16:creationId xmlns:a16="http://schemas.microsoft.com/office/drawing/2014/main" id="{47E3412D-EE09-7CDD-B3B3-E1C27A080EFA}"/>
              </a:ext>
            </a:extLst>
          </p:cNvPr>
          <p:cNvSpPr>
            <a:spLocks noGrp="1"/>
          </p:cNvSpPr>
          <p:nvPr>
            <p:ph type="title"/>
          </p:nvPr>
        </p:nvSpPr>
        <p:spPr>
          <a:xfrm>
            <a:off x="754601" y="68062"/>
            <a:ext cx="10353675" cy="1325563"/>
          </a:xfrm>
        </p:spPr>
        <p:txBody>
          <a:bodyPr/>
          <a:lstStyle/>
          <a:p>
            <a:r>
              <a:rPr lang="en-IN" dirty="0">
                <a:solidFill>
                  <a:srgbClr val="FFFF00"/>
                </a:solidFill>
              </a:rPr>
              <a:t>Dynamic part</a:t>
            </a:r>
          </a:p>
        </p:txBody>
      </p:sp>
    </p:spTree>
    <p:extLst>
      <p:ext uri="{BB962C8B-B14F-4D97-AF65-F5344CB8AC3E}">
        <p14:creationId xmlns:p14="http://schemas.microsoft.com/office/powerpoint/2010/main" val="3631237286"/>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E0A428-D04F-E24D-8582-8F5F3F00B815}"/>
              </a:ext>
            </a:extLst>
          </p:cNvPr>
          <p:cNvSpPr>
            <a:spLocks noGrp="1"/>
          </p:cNvSpPr>
          <p:nvPr>
            <p:ph idx="1"/>
          </p:nvPr>
        </p:nvSpPr>
        <p:spPr>
          <a:xfrm>
            <a:off x="825623" y="1773885"/>
            <a:ext cx="10621852" cy="5084115"/>
          </a:xfrm>
        </p:spPr>
        <p:txBody>
          <a:bodyPr/>
          <a:lstStyle/>
          <a:p>
            <a:pPr>
              <a:lnSpc>
                <a:spcPct val="150000"/>
              </a:lnSpc>
              <a:spcAft>
                <a:spcPts val="0"/>
              </a:spcAft>
            </a:pPr>
            <a:r>
              <a:rPr lang="en-US" sz="1800" b="1" dirty="0">
                <a:solidFill>
                  <a:srgbClr val="FFC000"/>
                </a:solidFill>
                <a:effectLst/>
                <a:ea typeface="Times New Roman" panose="02020603050405020304" pitchFamily="18" charset="0"/>
              </a:rPr>
              <a:t>Patient / User Module-</a:t>
            </a:r>
          </a:p>
          <a:p>
            <a:pPr marL="0" indent="0">
              <a:lnSpc>
                <a:spcPct val="150000"/>
              </a:lnSpc>
              <a:spcAft>
                <a:spcPts val="0"/>
              </a:spcAft>
              <a:buNone/>
            </a:pPr>
            <a:r>
              <a:rPr lang="en-US" sz="1800" dirty="0">
                <a:effectLst/>
                <a:ea typeface="Times New Roman" panose="02020603050405020304" pitchFamily="18" charset="0"/>
              </a:rPr>
              <a:t>User have to first Register himself before login. After entering the correct credentials user will be logged in into his area. </a:t>
            </a:r>
            <a:endParaRPr lang="en-IN" sz="1800" dirty="0">
              <a:effectLst/>
              <a:ea typeface="Times New Roman" panose="02020603050405020304" pitchFamily="18" charset="0"/>
            </a:endParaRPr>
          </a:p>
          <a:p>
            <a:pPr marL="342900" lvl="0" indent="-342900">
              <a:lnSpc>
                <a:spcPct val="150000"/>
              </a:lnSpc>
              <a:spcAft>
                <a:spcPts val="0"/>
              </a:spcAft>
              <a:buFont typeface="Wingdings" panose="05000000000000000000" pitchFamily="2" charset="2"/>
              <a:buChar char=""/>
            </a:pPr>
            <a:r>
              <a:rPr lang="en-US" sz="1800" dirty="0">
                <a:solidFill>
                  <a:srgbClr val="FFC000"/>
                </a:solidFill>
                <a:effectLst/>
                <a:ea typeface="Times New Roman" panose="02020603050405020304" pitchFamily="18" charset="0"/>
              </a:rPr>
              <a:t>Book Appointment – </a:t>
            </a:r>
            <a:r>
              <a:rPr lang="en-US" sz="1800" dirty="0">
                <a:effectLst/>
                <a:ea typeface="Times New Roman" panose="02020603050405020304" pitchFamily="18" charset="0"/>
              </a:rPr>
              <a:t>By clicking on this tab user will be able to make an Appointment, by filling out a form. After the confirmation of the appointment by the doctor, the confirmation is texted via SMS to the patient.</a:t>
            </a:r>
            <a:endParaRPr lang="en-IN" sz="1800" dirty="0">
              <a:effectLst/>
              <a:ea typeface="Times New Roman" panose="02020603050405020304" pitchFamily="18" charset="0"/>
            </a:endParaRPr>
          </a:p>
          <a:p>
            <a:pPr marL="342900" lvl="0" indent="-342900">
              <a:lnSpc>
                <a:spcPct val="150000"/>
              </a:lnSpc>
              <a:spcAft>
                <a:spcPts val="0"/>
              </a:spcAft>
              <a:buFont typeface="Wingdings" panose="05000000000000000000" pitchFamily="2" charset="2"/>
              <a:buChar char=""/>
            </a:pPr>
            <a:r>
              <a:rPr lang="en-US" sz="1800" dirty="0">
                <a:solidFill>
                  <a:srgbClr val="FFC000"/>
                </a:solidFill>
                <a:effectLst/>
                <a:ea typeface="Times New Roman" panose="02020603050405020304" pitchFamily="18" charset="0"/>
              </a:rPr>
              <a:t>Appointment History – </a:t>
            </a:r>
            <a:r>
              <a:rPr lang="en-US" sz="1800" dirty="0">
                <a:effectLst/>
                <a:ea typeface="Times New Roman" panose="02020603050405020304" pitchFamily="18" charset="0"/>
              </a:rPr>
              <a:t>In this section the particular user or patient will able to see his/her appointment History.</a:t>
            </a:r>
            <a:endParaRPr lang="en-IN" sz="1800" dirty="0">
              <a:effectLst/>
              <a:ea typeface="Times New Roman" panose="02020603050405020304" pitchFamily="18" charset="0"/>
            </a:endParaRPr>
          </a:p>
          <a:p>
            <a:endParaRPr lang="en-IN" dirty="0"/>
          </a:p>
        </p:txBody>
      </p:sp>
      <p:sp>
        <p:nvSpPr>
          <p:cNvPr id="4" name="Title 1">
            <a:extLst>
              <a:ext uri="{FF2B5EF4-FFF2-40B4-BE49-F238E27FC236}">
                <a16:creationId xmlns:a16="http://schemas.microsoft.com/office/drawing/2014/main" id="{1DF4C7F9-E89E-AC39-D69C-3CDE9065DD08}"/>
              </a:ext>
            </a:extLst>
          </p:cNvPr>
          <p:cNvSpPr>
            <a:spLocks noGrp="1"/>
          </p:cNvSpPr>
          <p:nvPr>
            <p:ph type="title"/>
          </p:nvPr>
        </p:nvSpPr>
        <p:spPr>
          <a:xfrm>
            <a:off x="825623" y="301841"/>
            <a:ext cx="10353675" cy="1325563"/>
          </a:xfrm>
        </p:spPr>
        <p:txBody>
          <a:bodyPr/>
          <a:lstStyle/>
          <a:p>
            <a:r>
              <a:rPr lang="en-IN" dirty="0">
                <a:solidFill>
                  <a:srgbClr val="FFFF00"/>
                </a:solidFill>
              </a:rPr>
              <a:t>Dynamic part</a:t>
            </a:r>
          </a:p>
        </p:txBody>
      </p:sp>
    </p:spTree>
    <p:extLst>
      <p:ext uri="{BB962C8B-B14F-4D97-AF65-F5344CB8AC3E}">
        <p14:creationId xmlns:p14="http://schemas.microsoft.com/office/powerpoint/2010/main" val="415102470"/>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1196D-EBCF-75DB-6BD9-D2313BA75005}"/>
              </a:ext>
            </a:extLst>
          </p:cNvPr>
          <p:cNvSpPr>
            <a:spLocks noGrp="1"/>
          </p:cNvSpPr>
          <p:nvPr>
            <p:ph type="title"/>
          </p:nvPr>
        </p:nvSpPr>
        <p:spPr>
          <a:xfrm>
            <a:off x="913795" y="139085"/>
            <a:ext cx="10556155" cy="624396"/>
          </a:xfrm>
        </p:spPr>
        <p:txBody>
          <a:bodyPr>
            <a:noAutofit/>
          </a:bodyPr>
          <a:lstStyle/>
          <a:p>
            <a:r>
              <a:rPr lang="en-IN" sz="2000" dirty="0">
                <a:solidFill>
                  <a:srgbClr val="FFFF00"/>
                </a:solidFill>
              </a:rPr>
              <a:t>Comparison of Final site V/s Site we have Prepared in Implant</a:t>
            </a:r>
          </a:p>
        </p:txBody>
      </p:sp>
      <p:graphicFrame>
        <p:nvGraphicFramePr>
          <p:cNvPr id="4" name="Content Placeholder 3">
            <a:extLst>
              <a:ext uri="{FF2B5EF4-FFF2-40B4-BE49-F238E27FC236}">
                <a16:creationId xmlns:a16="http://schemas.microsoft.com/office/drawing/2014/main" id="{327C7E51-266E-4D3C-A448-CCCC06D3D821}"/>
              </a:ext>
            </a:extLst>
          </p:cNvPr>
          <p:cNvGraphicFramePr>
            <a:graphicFrameLocks noGrp="1"/>
          </p:cNvGraphicFramePr>
          <p:nvPr>
            <p:ph idx="1"/>
            <p:extLst>
              <p:ext uri="{D42A27DB-BD31-4B8C-83A1-F6EECF244321}">
                <p14:modId xmlns:p14="http://schemas.microsoft.com/office/powerpoint/2010/main" val="583247790"/>
              </p:ext>
            </p:extLst>
          </p:nvPr>
        </p:nvGraphicFramePr>
        <p:xfrm>
          <a:off x="816746" y="923278"/>
          <a:ext cx="10795245" cy="5450887"/>
        </p:xfrm>
        <a:graphic>
          <a:graphicData uri="http://schemas.openxmlformats.org/drawingml/2006/table">
            <a:tbl>
              <a:tblPr firstRow="1" firstCol="1" bandRow="1">
                <a:tableStyleId>{5C22544A-7EE6-4342-B048-85BDC9FD1C3A}</a:tableStyleId>
              </a:tblPr>
              <a:tblGrid>
                <a:gridCol w="3388510">
                  <a:extLst>
                    <a:ext uri="{9D8B030D-6E8A-4147-A177-3AD203B41FA5}">
                      <a16:colId xmlns:a16="http://schemas.microsoft.com/office/drawing/2014/main" val="1428270028"/>
                    </a:ext>
                  </a:extLst>
                </a:gridCol>
                <a:gridCol w="3388510">
                  <a:extLst>
                    <a:ext uri="{9D8B030D-6E8A-4147-A177-3AD203B41FA5}">
                      <a16:colId xmlns:a16="http://schemas.microsoft.com/office/drawing/2014/main" val="2906883745"/>
                    </a:ext>
                  </a:extLst>
                </a:gridCol>
                <a:gridCol w="4018225">
                  <a:extLst>
                    <a:ext uri="{9D8B030D-6E8A-4147-A177-3AD203B41FA5}">
                      <a16:colId xmlns:a16="http://schemas.microsoft.com/office/drawing/2014/main" val="4000480493"/>
                    </a:ext>
                  </a:extLst>
                </a:gridCol>
              </a:tblGrid>
              <a:tr h="644575">
                <a:tc>
                  <a:txBody>
                    <a:bodyPr/>
                    <a:lstStyle/>
                    <a:p>
                      <a:pPr marR="71755" algn="ctr">
                        <a:lnSpc>
                          <a:spcPct val="150000"/>
                        </a:lnSpc>
                      </a:pPr>
                      <a:r>
                        <a:rPr lang="en-US" sz="1600" dirty="0">
                          <a:solidFill>
                            <a:schemeClr val="bg1"/>
                          </a:solidFill>
                          <a:effectLst/>
                        </a:rPr>
                        <a:t> Basis</a:t>
                      </a:r>
                      <a:endParaRPr lang="en-IN" sz="1600" dirty="0">
                        <a:solidFill>
                          <a:schemeClr val="bg1"/>
                        </a:solidFill>
                        <a:effectLst/>
                        <a:latin typeface="Times New Roman" panose="02020603050405020304" pitchFamily="18" charset="0"/>
                        <a:ea typeface="Times New Roman" panose="02020603050405020304" pitchFamily="18" charset="0"/>
                      </a:endParaRPr>
                    </a:p>
                  </a:txBody>
                  <a:tcPr marL="36527" marR="36527" marT="0" marB="0" anchor="ctr"/>
                </a:tc>
                <a:tc>
                  <a:txBody>
                    <a:bodyPr/>
                    <a:lstStyle/>
                    <a:p>
                      <a:pPr marR="71755" algn="ctr">
                        <a:lnSpc>
                          <a:spcPct val="150000"/>
                        </a:lnSpc>
                      </a:pPr>
                      <a:r>
                        <a:rPr lang="en-US" sz="1600" dirty="0">
                          <a:solidFill>
                            <a:schemeClr val="bg1"/>
                          </a:solidFill>
                          <a:effectLst/>
                        </a:rPr>
                        <a:t>Implant</a:t>
                      </a:r>
                      <a:r>
                        <a:rPr lang="en-IN" sz="1600" dirty="0">
                          <a:solidFill>
                            <a:schemeClr val="bg1"/>
                          </a:solidFill>
                          <a:effectLst/>
                        </a:rPr>
                        <a:t> </a:t>
                      </a:r>
                      <a:r>
                        <a:rPr lang="en-US" sz="1600" dirty="0">
                          <a:solidFill>
                            <a:schemeClr val="bg1"/>
                          </a:solidFill>
                          <a:effectLst/>
                        </a:rPr>
                        <a:t>Site</a:t>
                      </a:r>
                      <a:endParaRPr lang="en-IN" sz="1600" dirty="0">
                        <a:solidFill>
                          <a:schemeClr val="bg1"/>
                        </a:solidFill>
                        <a:effectLst/>
                        <a:latin typeface="Times New Roman" panose="02020603050405020304" pitchFamily="18" charset="0"/>
                        <a:ea typeface="Times New Roman" panose="02020603050405020304" pitchFamily="18" charset="0"/>
                      </a:endParaRPr>
                    </a:p>
                  </a:txBody>
                  <a:tcPr marL="36527" marR="36527" marT="0" marB="0" anchor="ctr"/>
                </a:tc>
                <a:tc>
                  <a:txBody>
                    <a:bodyPr/>
                    <a:lstStyle/>
                    <a:p>
                      <a:pPr marR="71755" algn="ctr">
                        <a:lnSpc>
                          <a:spcPct val="150000"/>
                        </a:lnSpc>
                      </a:pPr>
                      <a:r>
                        <a:rPr lang="en-US" sz="1600" dirty="0">
                          <a:solidFill>
                            <a:schemeClr val="bg1"/>
                          </a:solidFill>
                          <a:effectLst/>
                        </a:rPr>
                        <a:t> Final Project/ Site</a:t>
                      </a:r>
                      <a:endParaRPr lang="en-IN" sz="1600" dirty="0">
                        <a:solidFill>
                          <a:schemeClr val="bg1"/>
                        </a:solidFill>
                        <a:effectLst/>
                        <a:latin typeface="Times New Roman" panose="02020603050405020304" pitchFamily="18" charset="0"/>
                        <a:ea typeface="Times New Roman" panose="02020603050405020304" pitchFamily="18" charset="0"/>
                      </a:endParaRPr>
                    </a:p>
                  </a:txBody>
                  <a:tcPr marL="36527" marR="36527" marT="0" marB="0" anchor="ctr"/>
                </a:tc>
                <a:extLst>
                  <a:ext uri="{0D108BD9-81ED-4DB2-BD59-A6C34878D82A}">
                    <a16:rowId xmlns:a16="http://schemas.microsoft.com/office/drawing/2014/main" val="675434120"/>
                  </a:ext>
                </a:extLst>
              </a:tr>
              <a:tr h="987702">
                <a:tc>
                  <a:txBody>
                    <a:bodyPr/>
                    <a:lstStyle/>
                    <a:p>
                      <a:pPr marR="71755" algn="ctr">
                        <a:lnSpc>
                          <a:spcPct val="150000"/>
                        </a:lnSpc>
                      </a:pPr>
                      <a:r>
                        <a:rPr lang="en-US" sz="1600" dirty="0">
                          <a:solidFill>
                            <a:schemeClr val="bg1"/>
                          </a:solidFill>
                          <a:effectLst/>
                        </a:rPr>
                        <a:t>UI</a:t>
                      </a:r>
                      <a:endParaRPr lang="en-IN" sz="1600" dirty="0">
                        <a:solidFill>
                          <a:schemeClr val="bg1"/>
                        </a:solidFill>
                        <a:effectLst/>
                        <a:latin typeface="Times New Roman" panose="02020603050405020304" pitchFamily="18" charset="0"/>
                        <a:ea typeface="Times New Roman" panose="02020603050405020304" pitchFamily="18" charset="0"/>
                      </a:endParaRPr>
                    </a:p>
                  </a:txBody>
                  <a:tcPr marL="36527" marR="36527" marT="0" marB="0" anchor="ctr"/>
                </a:tc>
                <a:tc>
                  <a:txBody>
                    <a:bodyPr/>
                    <a:lstStyle/>
                    <a:p>
                      <a:pPr marR="71755" algn="ctr">
                        <a:lnSpc>
                          <a:spcPct val="150000"/>
                        </a:lnSpc>
                      </a:pPr>
                      <a:r>
                        <a:rPr lang="en-US" sz="1400" dirty="0">
                          <a:effectLst/>
                          <a:latin typeface="Cambria" panose="02040503050406030204" pitchFamily="18" charset="0"/>
                          <a:ea typeface="Cambria" panose="02040503050406030204" pitchFamily="18" charset="0"/>
                        </a:rPr>
                        <a:t> Redundant code was there for header and footers</a:t>
                      </a:r>
                      <a:endParaRPr lang="en-IN" sz="1400" dirty="0">
                        <a:effectLst/>
                        <a:latin typeface="Cambria" panose="02040503050406030204" pitchFamily="18" charset="0"/>
                        <a:ea typeface="Cambria" panose="02040503050406030204" pitchFamily="18" charset="0"/>
                      </a:endParaRPr>
                    </a:p>
                  </a:txBody>
                  <a:tcPr marL="36527" marR="36527" marT="0" marB="0" anchor="ctr"/>
                </a:tc>
                <a:tc>
                  <a:txBody>
                    <a:bodyPr/>
                    <a:lstStyle/>
                    <a:p>
                      <a:pPr marR="71755" algn="ctr">
                        <a:lnSpc>
                          <a:spcPct val="150000"/>
                        </a:lnSpc>
                      </a:pPr>
                      <a:r>
                        <a:rPr lang="en-US" sz="1400">
                          <a:effectLst/>
                          <a:latin typeface="Cambria" panose="02040503050406030204" pitchFamily="18" charset="0"/>
                          <a:ea typeface="Cambria" panose="02040503050406030204" pitchFamily="18" charset="0"/>
                        </a:rPr>
                        <a:t>Redundant code was reduced. Common Code was implemented using JQuery.</a:t>
                      </a:r>
                      <a:endParaRPr lang="en-IN" sz="1400">
                        <a:effectLst/>
                        <a:latin typeface="Cambria" panose="02040503050406030204" pitchFamily="18" charset="0"/>
                        <a:ea typeface="Cambria" panose="02040503050406030204" pitchFamily="18" charset="0"/>
                      </a:endParaRPr>
                    </a:p>
                  </a:txBody>
                  <a:tcPr marL="36527" marR="36527" marT="0" marB="0" anchor="ctr"/>
                </a:tc>
                <a:extLst>
                  <a:ext uri="{0D108BD9-81ED-4DB2-BD59-A6C34878D82A}">
                    <a16:rowId xmlns:a16="http://schemas.microsoft.com/office/drawing/2014/main" val="3484303129"/>
                  </a:ext>
                </a:extLst>
              </a:tr>
              <a:tr h="787178">
                <a:tc>
                  <a:txBody>
                    <a:bodyPr/>
                    <a:lstStyle/>
                    <a:p>
                      <a:pPr marR="71755" algn="ctr">
                        <a:lnSpc>
                          <a:spcPct val="150000"/>
                        </a:lnSpc>
                      </a:pPr>
                      <a:r>
                        <a:rPr lang="en-US" sz="1600" dirty="0">
                          <a:solidFill>
                            <a:schemeClr val="bg1"/>
                          </a:solidFill>
                          <a:effectLst/>
                        </a:rPr>
                        <a:t>Modules</a:t>
                      </a:r>
                      <a:endParaRPr lang="en-IN" sz="1600" dirty="0">
                        <a:solidFill>
                          <a:schemeClr val="bg1"/>
                        </a:solidFill>
                        <a:effectLst/>
                        <a:latin typeface="Times New Roman" panose="02020603050405020304" pitchFamily="18" charset="0"/>
                        <a:ea typeface="Times New Roman" panose="02020603050405020304" pitchFamily="18" charset="0"/>
                      </a:endParaRPr>
                    </a:p>
                  </a:txBody>
                  <a:tcPr marL="36527" marR="36527" marT="0" marB="0" anchor="ctr"/>
                </a:tc>
                <a:tc>
                  <a:txBody>
                    <a:bodyPr/>
                    <a:lstStyle/>
                    <a:p>
                      <a:pPr marR="71755" algn="ctr">
                        <a:lnSpc>
                          <a:spcPct val="150000"/>
                        </a:lnSpc>
                      </a:pPr>
                      <a:r>
                        <a:rPr lang="en-US" sz="1400" dirty="0">
                          <a:effectLst/>
                          <a:latin typeface="Cambria" panose="02040503050406030204" pitchFamily="18" charset="0"/>
                          <a:ea typeface="Cambria" panose="02040503050406030204" pitchFamily="18" charset="0"/>
                        </a:rPr>
                        <a:t>Previously, modules were Static and informative</a:t>
                      </a:r>
                      <a:endParaRPr lang="en-IN" sz="1400" dirty="0">
                        <a:effectLst/>
                        <a:latin typeface="Cambria" panose="02040503050406030204" pitchFamily="18" charset="0"/>
                        <a:ea typeface="Cambria" panose="02040503050406030204" pitchFamily="18" charset="0"/>
                      </a:endParaRPr>
                    </a:p>
                  </a:txBody>
                  <a:tcPr marL="36527" marR="36527" marT="0" marB="0" anchor="ctr"/>
                </a:tc>
                <a:tc>
                  <a:txBody>
                    <a:bodyPr/>
                    <a:lstStyle/>
                    <a:p>
                      <a:pPr marR="71755" algn="ctr">
                        <a:lnSpc>
                          <a:spcPct val="150000"/>
                        </a:lnSpc>
                      </a:pPr>
                      <a:r>
                        <a:rPr lang="en-US" sz="1400" dirty="0">
                          <a:effectLst/>
                          <a:latin typeface="Cambria" panose="02040503050406030204" pitchFamily="18" charset="0"/>
                          <a:ea typeface="Cambria" panose="02040503050406030204" pitchFamily="18" charset="0"/>
                        </a:rPr>
                        <a:t>Modules were made Dynamic and New 3 Dynamic Modules were added</a:t>
                      </a:r>
                      <a:endParaRPr lang="en-IN" sz="1400" dirty="0">
                        <a:effectLst/>
                        <a:latin typeface="Cambria" panose="02040503050406030204" pitchFamily="18" charset="0"/>
                        <a:ea typeface="Cambria" panose="02040503050406030204" pitchFamily="18" charset="0"/>
                      </a:endParaRPr>
                    </a:p>
                  </a:txBody>
                  <a:tcPr marL="36527" marR="36527" marT="0" marB="0" anchor="ctr"/>
                </a:tc>
                <a:extLst>
                  <a:ext uri="{0D108BD9-81ED-4DB2-BD59-A6C34878D82A}">
                    <a16:rowId xmlns:a16="http://schemas.microsoft.com/office/drawing/2014/main" val="3897796714"/>
                  </a:ext>
                </a:extLst>
              </a:tr>
              <a:tr h="644754">
                <a:tc>
                  <a:txBody>
                    <a:bodyPr/>
                    <a:lstStyle/>
                    <a:p>
                      <a:pPr marR="71755" algn="ctr">
                        <a:lnSpc>
                          <a:spcPct val="150000"/>
                        </a:lnSpc>
                      </a:pPr>
                      <a:r>
                        <a:rPr lang="en-US" sz="1600" dirty="0">
                          <a:solidFill>
                            <a:schemeClr val="bg1"/>
                          </a:solidFill>
                          <a:effectLst/>
                        </a:rPr>
                        <a:t>Database</a:t>
                      </a:r>
                      <a:endParaRPr lang="en-IN" sz="1600" dirty="0">
                        <a:solidFill>
                          <a:schemeClr val="bg1"/>
                        </a:solidFill>
                        <a:effectLst/>
                        <a:latin typeface="Times New Roman" panose="02020603050405020304" pitchFamily="18" charset="0"/>
                        <a:ea typeface="Times New Roman" panose="02020603050405020304" pitchFamily="18" charset="0"/>
                      </a:endParaRPr>
                    </a:p>
                  </a:txBody>
                  <a:tcPr marL="36527" marR="36527" marT="0" marB="0" anchor="ctr"/>
                </a:tc>
                <a:tc>
                  <a:txBody>
                    <a:bodyPr/>
                    <a:lstStyle/>
                    <a:p>
                      <a:pPr marR="71755" algn="ctr">
                        <a:lnSpc>
                          <a:spcPct val="150000"/>
                        </a:lnSpc>
                      </a:pPr>
                      <a:r>
                        <a:rPr lang="en-US" sz="1400" dirty="0">
                          <a:effectLst/>
                          <a:latin typeface="Cambria" panose="02040503050406030204" pitchFamily="18" charset="0"/>
                          <a:ea typeface="Cambria" panose="02040503050406030204" pitchFamily="18" charset="0"/>
                        </a:rPr>
                        <a:t>No Database Connection was there</a:t>
                      </a:r>
                      <a:endParaRPr lang="en-IN" sz="1400" dirty="0">
                        <a:effectLst/>
                        <a:latin typeface="Cambria" panose="02040503050406030204" pitchFamily="18" charset="0"/>
                        <a:ea typeface="Cambria" panose="02040503050406030204" pitchFamily="18" charset="0"/>
                      </a:endParaRPr>
                    </a:p>
                  </a:txBody>
                  <a:tcPr marL="36527" marR="36527" marT="0" marB="0" anchor="ctr"/>
                </a:tc>
                <a:tc>
                  <a:txBody>
                    <a:bodyPr/>
                    <a:lstStyle/>
                    <a:p>
                      <a:pPr marR="71755" algn="ctr">
                        <a:lnSpc>
                          <a:spcPct val="150000"/>
                        </a:lnSpc>
                      </a:pPr>
                      <a:r>
                        <a:rPr lang="en-US" sz="1400" dirty="0">
                          <a:effectLst/>
                          <a:latin typeface="Cambria" panose="02040503050406030204" pitchFamily="18" charset="0"/>
                          <a:ea typeface="Cambria" panose="02040503050406030204" pitchFamily="18" charset="0"/>
                        </a:rPr>
                        <a:t>Database Connection was</a:t>
                      </a:r>
                      <a:endParaRPr lang="en-IN" sz="1400" dirty="0">
                        <a:effectLst/>
                        <a:latin typeface="Cambria" panose="02040503050406030204" pitchFamily="18" charset="0"/>
                        <a:ea typeface="Cambria" panose="02040503050406030204" pitchFamily="18" charset="0"/>
                      </a:endParaRPr>
                    </a:p>
                    <a:p>
                      <a:pPr marR="71755" algn="ctr">
                        <a:lnSpc>
                          <a:spcPct val="150000"/>
                        </a:lnSpc>
                      </a:pPr>
                      <a:r>
                        <a:rPr lang="en-US" sz="1400" dirty="0">
                          <a:effectLst/>
                          <a:latin typeface="Cambria" panose="02040503050406030204" pitchFamily="18" charset="0"/>
                          <a:ea typeface="Cambria" panose="02040503050406030204" pitchFamily="18" charset="0"/>
                        </a:rPr>
                        <a:t>Done</a:t>
                      </a:r>
                      <a:endParaRPr lang="en-IN" sz="1400" dirty="0">
                        <a:effectLst/>
                        <a:latin typeface="Cambria" panose="02040503050406030204" pitchFamily="18" charset="0"/>
                        <a:ea typeface="Cambria" panose="02040503050406030204" pitchFamily="18" charset="0"/>
                      </a:endParaRPr>
                    </a:p>
                  </a:txBody>
                  <a:tcPr marL="36527" marR="36527" marT="0" marB="0" anchor="ctr"/>
                </a:tc>
                <a:extLst>
                  <a:ext uri="{0D108BD9-81ED-4DB2-BD59-A6C34878D82A}">
                    <a16:rowId xmlns:a16="http://schemas.microsoft.com/office/drawing/2014/main" val="2782229904"/>
                  </a:ext>
                </a:extLst>
              </a:tr>
              <a:tr h="644754">
                <a:tc>
                  <a:txBody>
                    <a:bodyPr/>
                    <a:lstStyle/>
                    <a:p>
                      <a:pPr marR="71755" algn="ctr">
                        <a:lnSpc>
                          <a:spcPct val="150000"/>
                        </a:lnSpc>
                      </a:pPr>
                      <a:r>
                        <a:rPr lang="en-US" sz="1600" dirty="0">
                          <a:solidFill>
                            <a:schemeClr val="bg1"/>
                          </a:solidFill>
                          <a:effectLst/>
                        </a:rPr>
                        <a:t>Communication</a:t>
                      </a:r>
                      <a:endParaRPr lang="en-IN" sz="1600" dirty="0">
                        <a:solidFill>
                          <a:schemeClr val="bg1"/>
                        </a:solidFill>
                        <a:effectLst/>
                        <a:latin typeface="Times New Roman" panose="02020603050405020304" pitchFamily="18" charset="0"/>
                        <a:ea typeface="Times New Roman" panose="02020603050405020304" pitchFamily="18" charset="0"/>
                      </a:endParaRPr>
                    </a:p>
                  </a:txBody>
                  <a:tcPr marL="36527" marR="36527" marT="0" marB="0" anchor="ctr"/>
                </a:tc>
                <a:tc>
                  <a:txBody>
                    <a:bodyPr/>
                    <a:lstStyle/>
                    <a:p>
                      <a:pPr marR="71755" algn="ctr">
                        <a:lnSpc>
                          <a:spcPct val="150000"/>
                        </a:lnSpc>
                      </a:pPr>
                      <a:r>
                        <a:rPr lang="en-US" sz="1400">
                          <a:effectLst/>
                          <a:latin typeface="Cambria" panose="02040503050406030204" pitchFamily="18" charset="0"/>
                          <a:ea typeface="Cambria" panose="02040503050406030204" pitchFamily="18" charset="0"/>
                        </a:rPr>
                        <a:t>No</a:t>
                      </a:r>
                      <a:endParaRPr lang="en-IN" sz="1400">
                        <a:effectLst/>
                        <a:latin typeface="Cambria" panose="02040503050406030204" pitchFamily="18" charset="0"/>
                        <a:ea typeface="Cambria" panose="02040503050406030204" pitchFamily="18" charset="0"/>
                      </a:endParaRPr>
                    </a:p>
                  </a:txBody>
                  <a:tcPr marL="36527" marR="36527" marT="0" marB="0" anchor="ctr"/>
                </a:tc>
                <a:tc>
                  <a:txBody>
                    <a:bodyPr/>
                    <a:lstStyle/>
                    <a:p>
                      <a:pPr marR="71755" algn="ctr">
                        <a:lnSpc>
                          <a:spcPct val="150000"/>
                        </a:lnSpc>
                      </a:pPr>
                      <a:r>
                        <a:rPr lang="en-US" sz="1400" dirty="0">
                          <a:effectLst/>
                          <a:latin typeface="Cambria" panose="02040503050406030204" pitchFamily="18" charset="0"/>
                          <a:ea typeface="Cambria" panose="02040503050406030204" pitchFamily="18" charset="0"/>
                        </a:rPr>
                        <a:t>SMS API was added for confirming appointment</a:t>
                      </a:r>
                      <a:endParaRPr lang="en-IN" sz="1400" dirty="0">
                        <a:effectLst/>
                        <a:latin typeface="Cambria" panose="02040503050406030204" pitchFamily="18" charset="0"/>
                        <a:ea typeface="Cambria" panose="02040503050406030204" pitchFamily="18" charset="0"/>
                      </a:endParaRPr>
                    </a:p>
                  </a:txBody>
                  <a:tcPr marL="36527" marR="36527" marT="0" marB="0" anchor="ctr"/>
                </a:tc>
                <a:extLst>
                  <a:ext uri="{0D108BD9-81ED-4DB2-BD59-A6C34878D82A}">
                    <a16:rowId xmlns:a16="http://schemas.microsoft.com/office/drawing/2014/main" val="2136658346"/>
                  </a:ext>
                </a:extLst>
              </a:tr>
              <a:tr h="452416">
                <a:tc>
                  <a:txBody>
                    <a:bodyPr/>
                    <a:lstStyle/>
                    <a:p>
                      <a:pPr marR="71755" algn="ctr">
                        <a:lnSpc>
                          <a:spcPct val="150000"/>
                        </a:lnSpc>
                      </a:pPr>
                      <a:r>
                        <a:rPr lang="en-US" sz="1600" dirty="0">
                          <a:solidFill>
                            <a:schemeClr val="bg1"/>
                          </a:solidFill>
                          <a:effectLst/>
                        </a:rPr>
                        <a:t>User- Friendly</a:t>
                      </a:r>
                      <a:endParaRPr lang="en-IN" sz="1600" dirty="0">
                        <a:solidFill>
                          <a:schemeClr val="bg1"/>
                        </a:solidFill>
                        <a:effectLst/>
                        <a:latin typeface="Times New Roman" panose="02020603050405020304" pitchFamily="18" charset="0"/>
                        <a:ea typeface="Times New Roman" panose="02020603050405020304" pitchFamily="18" charset="0"/>
                      </a:endParaRPr>
                    </a:p>
                  </a:txBody>
                  <a:tcPr marL="36527" marR="36527" marT="0" marB="0" anchor="ctr"/>
                </a:tc>
                <a:tc>
                  <a:txBody>
                    <a:bodyPr/>
                    <a:lstStyle/>
                    <a:p>
                      <a:pPr marR="71755" algn="ctr">
                        <a:lnSpc>
                          <a:spcPct val="150000"/>
                        </a:lnSpc>
                      </a:pPr>
                      <a:r>
                        <a:rPr lang="en-US" sz="1400">
                          <a:effectLst/>
                          <a:latin typeface="Cambria" panose="02040503050406030204" pitchFamily="18" charset="0"/>
                          <a:ea typeface="Cambria" panose="02040503050406030204" pitchFamily="18" charset="0"/>
                        </a:rPr>
                        <a:t>Less User friendly</a:t>
                      </a:r>
                      <a:endParaRPr lang="en-IN" sz="1400">
                        <a:effectLst/>
                        <a:latin typeface="Cambria" panose="02040503050406030204" pitchFamily="18" charset="0"/>
                        <a:ea typeface="Cambria" panose="02040503050406030204" pitchFamily="18" charset="0"/>
                      </a:endParaRPr>
                    </a:p>
                  </a:txBody>
                  <a:tcPr marL="36527" marR="36527" marT="0" marB="0" anchor="ctr"/>
                </a:tc>
                <a:tc>
                  <a:txBody>
                    <a:bodyPr/>
                    <a:lstStyle/>
                    <a:p>
                      <a:pPr marR="71755" algn="ctr">
                        <a:lnSpc>
                          <a:spcPct val="150000"/>
                        </a:lnSpc>
                      </a:pPr>
                      <a:r>
                        <a:rPr lang="en-US" sz="1400" dirty="0">
                          <a:effectLst/>
                          <a:latin typeface="Cambria" panose="02040503050406030204" pitchFamily="18" charset="0"/>
                          <a:ea typeface="Cambria" panose="02040503050406030204" pitchFamily="18" charset="0"/>
                        </a:rPr>
                        <a:t>More user Friendly</a:t>
                      </a:r>
                      <a:endParaRPr lang="en-IN" sz="1400" dirty="0">
                        <a:effectLst/>
                        <a:latin typeface="Cambria" panose="02040503050406030204" pitchFamily="18" charset="0"/>
                        <a:ea typeface="Cambria" panose="02040503050406030204" pitchFamily="18" charset="0"/>
                      </a:endParaRPr>
                    </a:p>
                  </a:txBody>
                  <a:tcPr marL="36527" marR="36527" marT="0" marB="0" anchor="ctr"/>
                </a:tc>
                <a:extLst>
                  <a:ext uri="{0D108BD9-81ED-4DB2-BD59-A6C34878D82A}">
                    <a16:rowId xmlns:a16="http://schemas.microsoft.com/office/drawing/2014/main" val="3508415883"/>
                  </a:ext>
                </a:extLst>
              </a:tr>
              <a:tr h="644754">
                <a:tc>
                  <a:txBody>
                    <a:bodyPr/>
                    <a:lstStyle/>
                    <a:p>
                      <a:pPr marR="71755" algn="ctr">
                        <a:lnSpc>
                          <a:spcPct val="150000"/>
                        </a:lnSpc>
                      </a:pPr>
                      <a:r>
                        <a:rPr lang="en-US" sz="1600" dirty="0">
                          <a:solidFill>
                            <a:schemeClr val="bg1"/>
                          </a:solidFill>
                          <a:effectLst/>
                        </a:rPr>
                        <a:t>Technologies</a:t>
                      </a:r>
                      <a:endParaRPr lang="en-IN" sz="1600" dirty="0">
                        <a:solidFill>
                          <a:schemeClr val="bg1"/>
                        </a:solidFill>
                        <a:effectLst/>
                        <a:latin typeface="Times New Roman" panose="02020603050405020304" pitchFamily="18" charset="0"/>
                        <a:ea typeface="Times New Roman" panose="02020603050405020304" pitchFamily="18" charset="0"/>
                      </a:endParaRPr>
                    </a:p>
                  </a:txBody>
                  <a:tcPr marL="36527" marR="36527" marT="0" marB="0" anchor="ctr"/>
                </a:tc>
                <a:tc>
                  <a:txBody>
                    <a:bodyPr/>
                    <a:lstStyle/>
                    <a:p>
                      <a:pPr marR="71755" algn="ctr">
                        <a:lnSpc>
                          <a:spcPct val="150000"/>
                        </a:lnSpc>
                      </a:pPr>
                      <a:r>
                        <a:rPr lang="en-US" sz="1400">
                          <a:effectLst/>
                          <a:latin typeface="Cambria" panose="02040503050406030204" pitchFamily="18" charset="0"/>
                          <a:ea typeface="Cambria" panose="02040503050406030204" pitchFamily="18" charset="0"/>
                        </a:rPr>
                        <a:t>HTML, CSS, Bootstrap</a:t>
                      </a:r>
                      <a:endParaRPr lang="en-IN" sz="1400">
                        <a:effectLst/>
                        <a:latin typeface="Cambria" panose="02040503050406030204" pitchFamily="18" charset="0"/>
                        <a:ea typeface="Cambria" panose="02040503050406030204" pitchFamily="18" charset="0"/>
                      </a:endParaRPr>
                    </a:p>
                  </a:txBody>
                  <a:tcPr marL="36527" marR="36527" marT="0" marB="0" anchor="ctr"/>
                </a:tc>
                <a:tc>
                  <a:txBody>
                    <a:bodyPr/>
                    <a:lstStyle/>
                    <a:p>
                      <a:pPr marR="71755" algn="ctr">
                        <a:lnSpc>
                          <a:spcPct val="150000"/>
                        </a:lnSpc>
                      </a:pPr>
                      <a:r>
                        <a:rPr lang="en-US" sz="1400" dirty="0">
                          <a:effectLst/>
                          <a:latin typeface="Cambria" panose="02040503050406030204" pitchFamily="18" charset="0"/>
                          <a:ea typeface="Cambria" panose="02040503050406030204" pitchFamily="18" charset="0"/>
                        </a:rPr>
                        <a:t>Technologies like JSP, Servlet, JDBC, JavaScript and </a:t>
                      </a:r>
                      <a:r>
                        <a:rPr lang="en-US" sz="1400" dirty="0" err="1">
                          <a:effectLst/>
                          <a:latin typeface="Cambria" panose="02040503050406030204" pitchFamily="18" charset="0"/>
                          <a:ea typeface="Cambria" panose="02040503050406030204" pitchFamily="18" charset="0"/>
                        </a:rPr>
                        <a:t>JQuery</a:t>
                      </a:r>
                      <a:r>
                        <a:rPr lang="en-US" sz="1400" dirty="0">
                          <a:effectLst/>
                          <a:latin typeface="Cambria" panose="02040503050406030204" pitchFamily="18" charset="0"/>
                          <a:ea typeface="Cambria" panose="02040503050406030204" pitchFamily="18" charset="0"/>
                        </a:rPr>
                        <a:t> were added</a:t>
                      </a:r>
                      <a:endParaRPr lang="en-IN" sz="1400" dirty="0">
                        <a:effectLst/>
                        <a:latin typeface="Cambria" panose="02040503050406030204" pitchFamily="18" charset="0"/>
                        <a:ea typeface="Cambria" panose="02040503050406030204" pitchFamily="18" charset="0"/>
                      </a:endParaRPr>
                    </a:p>
                  </a:txBody>
                  <a:tcPr marL="36527" marR="36527" marT="0" marB="0" anchor="ctr"/>
                </a:tc>
                <a:extLst>
                  <a:ext uri="{0D108BD9-81ED-4DB2-BD59-A6C34878D82A}">
                    <a16:rowId xmlns:a16="http://schemas.microsoft.com/office/drawing/2014/main" val="1778421168"/>
                  </a:ext>
                </a:extLst>
              </a:tr>
              <a:tr h="644754">
                <a:tc>
                  <a:txBody>
                    <a:bodyPr/>
                    <a:lstStyle/>
                    <a:p>
                      <a:pPr marR="71755" algn="ctr">
                        <a:lnSpc>
                          <a:spcPct val="150000"/>
                        </a:lnSpc>
                      </a:pPr>
                      <a:r>
                        <a:rPr lang="en-US" sz="1600" dirty="0">
                          <a:solidFill>
                            <a:schemeClr val="bg1"/>
                          </a:solidFill>
                          <a:effectLst/>
                        </a:rPr>
                        <a:t>Validations</a:t>
                      </a:r>
                      <a:endParaRPr lang="en-IN" sz="1600" dirty="0">
                        <a:solidFill>
                          <a:schemeClr val="bg1"/>
                        </a:solidFill>
                        <a:effectLst/>
                        <a:latin typeface="Times New Roman" panose="02020603050405020304" pitchFamily="18" charset="0"/>
                        <a:ea typeface="Times New Roman" panose="02020603050405020304" pitchFamily="18" charset="0"/>
                      </a:endParaRPr>
                    </a:p>
                  </a:txBody>
                  <a:tcPr marL="36527" marR="36527" marT="0" marB="0" anchor="ctr"/>
                </a:tc>
                <a:tc>
                  <a:txBody>
                    <a:bodyPr/>
                    <a:lstStyle/>
                    <a:p>
                      <a:pPr marR="71755" algn="ctr">
                        <a:lnSpc>
                          <a:spcPct val="150000"/>
                        </a:lnSpc>
                      </a:pPr>
                      <a:r>
                        <a:rPr lang="en-US" sz="1400">
                          <a:effectLst/>
                          <a:latin typeface="Cambria" panose="02040503050406030204" pitchFamily="18" charset="0"/>
                          <a:ea typeface="Cambria" panose="02040503050406030204" pitchFamily="18" charset="0"/>
                        </a:rPr>
                        <a:t>No</a:t>
                      </a:r>
                      <a:endParaRPr lang="en-IN" sz="1400">
                        <a:effectLst/>
                        <a:latin typeface="Cambria" panose="02040503050406030204" pitchFamily="18" charset="0"/>
                        <a:ea typeface="Cambria" panose="02040503050406030204" pitchFamily="18" charset="0"/>
                      </a:endParaRPr>
                    </a:p>
                  </a:txBody>
                  <a:tcPr marL="36527" marR="36527" marT="0" marB="0" anchor="ctr"/>
                </a:tc>
                <a:tc>
                  <a:txBody>
                    <a:bodyPr/>
                    <a:lstStyle/>
                    <a:p>
                      <a:pPr marR="71755" algn="ctr">
                        <a:lnSpc>
                          <a:spcPct val="150000"/>
                        </a:lnSpc>
                      </a:pPr>
                      <a:r>
                        <a:rPr lang="en-US" sz="1400" dirty="0">
                          <a:effectLst/>
                          <a:latin typeface="Cambria" panose="02040503050406030204" pitchFamily="18" charset="0"/>
                          <a:ea typeface="Cambria" panose="02040503050406030204" pitchFamily="18" charset="0"/>
                        </a:rPr>
                        <a:t>Validations</a:t>
                      </a:r>
                      <a:endParaRPr lang="en-IN" sz="1400" dirty="0">
                        <a:effectLst/>
                        <a:latin typeface="Cambria" panose="02040503050406030204" pitchFamily="18" charset="0"/>
                        <a:ea typeface="Cambria" panose="02040503050406030204" pitchFamily="18" charset="0"/>
                      </a:endParaRPr>
                    </a:p>
                    <a:p>
                      <a:pPr marR="71755" algn="ctr">
                        <a:lnSpc>
                          <a:spcPct val="150000"/>
                        </a:lnSpc>
                      </a:pPr>
                      <a:r>
                        <a:rPr lang="en-US" sz="1400" dirty="0">
                          <a:effectLst/>
                          <a:latin typeface="Cambria" panose="02040503050406030204" pitchFamily="18" charset="0"/>
                          <a:ea typeface="Cambria" panose="02040503050406030204" pitchFamily="18" charset="0"/>
                        </a:rPr>
                        <a:t>were added</a:t>
                      </a:r>
                      <a:endParaRPr lang="en-IN" sz="1400" dirty="0">
                        <a:effectLst/>
                        <a:latin typeface="Cambria" panose="02040503050406030204" pitchFamily="18" charset="0"/>
                        <a:ea typeface="Cambria" panose="02040503050406030204" pitchFamily="18" charset="0"/>
                      </a:endParaRPr>
                    </a:p>
                  </a:txBody>
                  <a:tcPr marL="36527" marR="36527" marT="0" marB="0" anchor="ctr"/>
                </a:tc>
                <a:extLst>
                  <a:ext uri="{0D108BD9-81ED-4DB2-BD59-A6C34878D82A}">
                    <a16:rowId xmlns:a16="http://schemas.microsoft.com/office/drawing/2014/main" val="4007751773"/>
                  </a:ext>
                </a:extLst>
              </a:tr>
            </a:tbl>
          </a:graphicData>
        </a:graphic>
      </p:graphicFrame>
    </p:spTree>
    <p:extLst>
      <p:ext uri="{BB962C8B-B14F-4D97-AF65-F5344CB8AC3E}">
        <p14:creationId xmlns:p14="http://schemas.microsoft.com/office/powerpoint/2010/main" val="2014899975"/>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C0306-D168-E037-16E0-9BE9F8072601}"/>
              </a:ext>
            </a:extLst>
          </p:cNvPr>
          <p:cNvSpPr>
            <a:spLocks noGrp="1"/>
          </p:cNvSpPr>
          <p:nvPr>
            <p:ph type="title"/>
          </p:nvPr>
        </p:nvSpPr>
        <p:spPr>
          <a:xfrm>
            <a:off x="1048754" y="432048"/>
            <a:ext cx="10218803" cy="730928"/>
          </a:xfrm>
        </p:spPr>
        <p:txBody>
          <a:bodyPr/>
          <a:lstStyle/>
          <a:p>
            <a:r>
              <a:rPr lang="en-IN" dirty="0">
                <a:solidFill>
                  <a:srgbClr val="FFFF00"/>
                </a:solidFill>
              </a:rPr>
              <a:t>Let’s have a Glance at the Project</a:t>
            </a:r>
          </a:p>
        </p:txBody>
      </p:sp>
      <p:sp>
        <p:nvSpPr>
          <p:cNvPr id="3" name="Content Placeholder 2">
            <a:extLst>
              <a:ext uri="{FF2B5EF4-FFF2-40B4-BE49-F238E27FC236}">
                <a16:creationId xmlns:a16="http://schemas.microsoft.com/office/drawing/2014/main" id="{F8ABCD89-EDFC-9F46-0BDD-DECBD2EFCB97}"/>
              </a:ext>
            </a:extLst>
          </p:cNvPr>
          <p:cNvSpPr>
            <a:spLocks noGrp="1"/>
          </p:cNvSpPr>
          <p:nvPr>
            <p:ph idx="1"/>
          </p:nvPr>
        </p:nvSpPr>
        <p:spPr>
          <a:xfrm>
            <a:off x="932155" y="1908699"/>
            <a:ext cx="10335402" cy="3882501"/>
          </a:xfrm>
        </p:spPr>
        <p:txBody>
          <a:bodyPr/>
          <a:lstStyle/>
          <a:p>
            <a:r>
              <a:rPr lang="en-IN" dirty="0">
                <a:hlinkClick r:id="rId2"/>
              </a:rPr>
              <a:t>Home-</a:t>
            </a:r>
            <a:r>
              <a:rPr lang="en-IN" dirty="0" err="1">
                <a:hlinkClick r:id="rId2"/>
              </a:rPr>
              <a:t>Bhave's</a:t>
            </a:r>
            <a:r>
              <a:rPr lang="en-IN" dirty="0">
                <a:hlinkClick r:id="rId2"/>
              </a:rPr>
              <a:t> </a:t>
            </a:r>
            <a:r>
              <a:rPr lang="en-IN" dirty="0" err="1">
                <a:hlinkClick r:id="rId2"/>
              </a:rPr>
              <a:t>Multispeciality</a:t>
            </a:r>
            <a:r>
              <a:rPr lang="en-IN" dirty="0">
                <a:hlinkClick r:id="rId2"/>
              </a:rPr>
              <a:t> Hospital</a:t>
            </a:r>
            <a:endParaRPr lang="en-IN" dirty="0"/>
          </a:p>
        </p:txBody>
      </p:sp>
    </p:spTree>
    <p:extLst>
      <p:ext uri="{BB962C8B-B14F-4D97-AF65-F5344CB8AC3E}">
        <p14:creationId xmlns:p14="http://schemas.microsoft.com/office/powerpoint/2010/main" val="1286645213"/>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71627-53BB-BC58-9FBD-35487BBF1C29}"/>
              </a:ext>
            </a:extLst>
          </p:cNvPr>
          <p:cNvSpPr>
            <a:spLocks noGrp="1"/>
          </p:cNvSpPr>
          <p:nvPr>
            <p:ph type="title"/>
          </p:nvPr>
        </p:nvSpPr>
        <p:spPr>
          <a:xfrm>
            <a:off x="851651" y="2491666"/>
            <a:ext cx="10353761" cy="1326321"/>
          </a:xfrm>
        </p:spPr>
        <p:txBody>
          <a:bodyPr/>
          <a:lstStyle/>
          <a:p>
            <a:r>
              <a:rPr lang="en-IN" dirty="0">
                <a:solidFill>
                  <a:srgbClr val="FFFF00"/>
                </a:solidFill>
              </a:rPr>
              <a:t>Thank You!</a:t>
            </a:r>
          </a:p>
        </p:txBody>
      </p:sp>
    </p:spTree>
    <p:extLst>
      <p:ext uri="{BB962C8B-B14F-4D97-AF65-F5344CB8AC3E}">
        <p14:creationId xmlns:p14="http://schemas.microsoft.com/office/powerpoint/2010/main" val="133952883"/>
      </p:ext>
    </p:extLst>
  </p:cSld>
  <p:clrMapOvr>
    <a:masterClrMapping/>
  </p:clrMapOvr>
  <p:transition spd="med">
    <p:pull/>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134</TotalTime>
  <Words>727</Words>
  <Application>Microsoft Office PowerPoint</Application>
  <PresentationFormat>Widescreen</PresentationFormat>
  <Paragraphs>100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Bookman Old Style</vt:lpstr>
      <vt:lpstr>Cambria</vt:lpstr>
      <vt:lpstr>Rockwell</vt:lpstr>
      <vt:lpstr>Times New Roman</vt:lpstr>
      <vt:lpstr>Wingdings</vt:lpstr>
      <vt:lpstr>Damask</vt:lpstr>
      <vt:lpstr>BHAVE’S MULTISPECIALITY HOSPITAL WEBSITE</vt:lpstr>
      <vt:lpstr>Problem Statement </vt:lpstr>
      <vt:lpstr>Technologies Used</vt:lpstr>
      <vt:lpstr>Implementation of Modules</vt:lpstr>
      <vt:lpstr>Static Part</vt:lpstr>
      <vt:lpstr>Dynamic part</vt:lpstr>
      <vt:lpstr>Dynamic part</vt:lpstr>
      <vt:lpstr>Dynamic part</vt:lpstr>
      <vt:lpstr>Comparison of Final site V/s Site we have Prepared in Implant</vt:lpstr>
      <vt:lpstr>Let’s have a Glance at the Project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“BHAVE’S MULTISPECIALITY HOSPITALWEBSITE”</dc:title>
  <dc:creator>lenovo</dc:creator>
  <cp:lastModifiedBy>Rupesh Gangarde</cp:lastModifiedBy>
  <cp:revision>21</cp:revision>
  <dcterms:created xsi:type="dcterms:W3CDTF">2022-06-27T04:38:18Z</dcterms:created>
  <dcterms:modified xsi:type="dcterms:W3CDTF">2022-06-29T04:07:44Z</dcterms:modified>
</cp:coreProperties>
</file>